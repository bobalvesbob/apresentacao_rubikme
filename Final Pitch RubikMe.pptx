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Bebas Neue"/>
      <p:regular r:id="rId29"/>
    </p:embeddedFont>
    <p:embeddedFont>
      <p:font typeface="Urbanist SemiBold"/>
      <p:regular r:id="rId30"/>
      <p:bold r:id="rId31"/>
      <p:italic r:id="rId32"/>
      <p:boldItalic r:id="rId33"/>
    </p:embeddedFont>
    <p:embeddedFont>
      <p:font typeface="Urbanist"/>
      <p:bold r:id="rId34"/>
      <p:boldItalic r:id="rId35"/>
    </p:embeddedFont>
    <p:embeddedFont>
      <p:font typeface="Inter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ebas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SemiBold-bold.fntdata"/><Relationship Id="rId30" Type="http://schemas.openxmlformats.org/officeDocument/2006/relationships/font" Target="fonts/Urbanist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Urbanist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UrbanistSemiBold-italic.fntdata"/><Relationship Id="rId13" Type="http://schemas.openxmlformats.org/officeDocument/2006/relationships/slide" Target="slides/slide8.xml"/><Relationship Id="rId35" Type="http://schemas.openxmlformats.org/officeDocument/2006/relationships/font" Target="fonts/Urbanist-boldItalic.fntdata"/><Relationship Id="rId12" Type="http://schemas.openxmlformats.org/officeDocument/2006/relationships/slide" Target="slides/slide7.xml"/><Relationship Id="rId34" Type="http://schemas.openxmlformats.org/officeDocument/2006/relationships/font" Target="fonts/Urbanist-bold.fntdata"/><Relationship Id="rId15" Type="http://schemas.openxmlformats.org/officeDocument/2006/relationships/slide" Target="slides/slide10.xml"/><Relationship Id="rId37" Type="http://schemas.openxmlformats.org/officeDocument/2006/relationships/font" Target="fonts/InterMedium-bold.fntdata"/><Relationship Id="rId14" Type="http://schemas.openxmlformats.org/officeDocument/2006/relationships/slide" Target="slides/slide9.xml"/><Relationship Id="rId36" Type="http://schemas.openxmlformats.org/officeDocument/2006/relationships/font" Target="fonts/InterMedium-regular.fntdata"/><Relationship Id="rId17" Type="http://schemas.openxmlformats.org/officeDocument/2006/relationships/slide" Target="slides/slide12.xml"/><Relationship Id="rId39" Type="http://schemas.openxmlformats.org/officeDocument/2006/relationships/font" Target="fonts/InterMedium-boldItalic.fntdata"/><Relationship Id="rId16" Type="http://schemas.openxmlformats.org/officeDocument/2006/relationships/slide" Target="slides/slide11.xml"/><Relationship Id="rId38" Type="http://schemas.openxmlformats.org/officeDocument/2006/relationships/font" Target="fonts/InterMedium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f8131d4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ef8131d4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d8ad8f8a9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d8ad8f8a9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d8ad8f8a9_2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d8ad8f8a9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d8ad8f8a9_2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d8ad8f8a9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d8ad8f8a9_2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d8ad8f8a9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d8ad8f8a9_2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d8ad8f8a9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d8ad8f8a9_2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d8ad8f8a9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dc469bea5_0_2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dc469bea5_0_2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d8ad8f8a9_2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ed8ad8f8a9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d8ad8f8a9_1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ed8ad8f8a9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dc469bea5_0_4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dc469bea5_0_2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edc469bea5_0_2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d8ad8f8a9_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ed8ad8f8a9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d8ad8f8a9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ed8ad8f8a9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d8ad8f8a9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ed8ad8f8a9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d8ad8f8a9_14_0)">
  <p:cSld name="Generated (g3ed8ad8f8a9_1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4f9cbb83a_8_0)">
  <p:cSld name="Generated (g3d4f9cbb83a_8_0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0.jpg"/><Relationship Id="rId7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9" Type="http://schemas.openxmlformats.org/officeDocument/2006/relationships/image" Target="../media/image36.png"/><Relationship Id="rId5" Type="http://schemas.openxmlformats.org/officeDocument/2006/relationships/image" Target="../media/image23.png"/><Relationship Id="rId6" Type="http://schemas.openxmlformats.org/officeDocument/2006/relationships/image" Target="../media/image28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21.png"/><Relationship Id="rId7" Type="http://schemas.openxmlformats.org/officeDocument/2006/relationships/image" Target="../media/image33.png"/><Relationship Id="rId8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8.png"/><Relationship Id="rId5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B0B7A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 title="LogoRubikMeCuboENo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476" y="604550"/>
            <a:ext cx="3995951" cy="35317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 txBox="1"/>
          <p:nvPr/>
        </p:nvSpPr>
        <p:spPr>
          <a:xfrm>
            <a:off x="3169450" y="4329650"/>
            <a:ext cx="3000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" sz="1530">
                <a:solidFill>
                  <a:srgbClr val="EE1379"/>
                </a:solidFill>
                <a:latin typeface="Bebas Neue"/>
                <a:ea typeface="Bebas Neue"/>
                <a:cs typeface="Bebas Neue"/>
                <a:sym typeface="Bebas Neue"/>
              </a:rPr>
              <a:t>Robson a. alves</a:t>
            </a:r>
            <a:endParaRPr sz="1530">
              <a:solidFill>
                <a:srgbClr val="EE137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036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6025" y="9525"/>
            <a:ext cx="2686200" cy="268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6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64" name="Google Shape;64;p16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" name="Google Shape;65;p16"/>
            <p:cNvSpPr txBox="1"/>
            <p:nvPr/>
          </p:nvSpPr>
          <p:spPr>
            <a:xfrm>
              <a:off x="381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RubikMe · Instituto Politécnico de Bragança</a:t>
              </a:r>
              <a:endParaRPr/>
            </a:p>
          </p:txBody>
        </p:sp>
        <p:sp>
          <p:nvSpPr>
            <p:cNvPr id="66" name="Google Shape;66;p16"/>
            <p:cNvSpPr txBox="1"/>
            <p:nvPr/>
          </p:nvSpPr>
          <p:spPr>
            <a:xfrm>
              <a:off x="6858000" y="48577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2026</a:t>
              </a:r>
              <a:endParaRPr/>
            </a:p>
          </p:txBody>
        </p:sp>
      </p:grpSp>
      <p:sp>
        <p:nvSpPr>
          <p:cNvPr id="67" name="Google Shape;67;p16"/>
          <p:cNvSpPr txBox="1"/>
          <p:nvPr/>
        </p:nvSpPr>
        <p:spPr>
          <a:xfrm>
            <a:off x="1984050" y="500700"/>
            <a:ext cx="6659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23">
                <a:solidFill>
                  <a:schemeClr val="accent6"/>
                </a:solidFill>
                <a:latin typeface="Bebas Neue"/>
                <a:ea typeface="Bebas Neue"/>
                <a:cs typeface="Bebas Neue"/>
                <a:sym typeface="Bebas Neue"/>
              </a:rPr>
              <a:t>Em 2006, um canadiano trocou um clipe vermelho por uma casa.</a:t>
            </a:r>
            <a:endParaRPr b="1" sz="2423">
              <a:solidFill>
                <a:schemeClr val="accent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900"/>
              </a:spcBef>
              <a:spcAft>
                <a:spcPts val="1800"/>
              </a:spcAft>
              <a:buNone/>
            </a:pPr>
            <a:r>
              <a:rPr lang="en" sz="1530">
                <a:solidFill>
                  <a:srgbClr val="EE1379"/>
                </a:solidFill>
                <a:latin typeface="Bebas Neue"/>
                <a:ea typeface="Bebas Neue"/>
                <a:cs typeface="Bebas Neue"/>
                <a:sym typeface="Bebas Neue"/>
              </a:rPr>
              <a:t>14 trocas. Zero dinheiro.</a:t>
            </a:r>
            <a:endParaRPr sz="1530">
              <a:solidFill>
                <a:srgbClr val="EE137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grpSp>
        <p:nvGrpSpPr>
          <p:cNvPr id="68" name="Google Shape;68;p16"/>
          <p:cNvGrpSpPr/>
          <p:nvPr/>
        </p:nvGrpSpPr>
        <p:grpSpPr>
          <a:xfrm>
            <a:off x="-761823" y="1950450"/>
            <a:ext cx="9524823" cy="1737360"/>
            <a:chOff x="0" y="-128641"/>
            <a:chExt cx="7937353" cy="1447800"/>
          </a:xfrm>
        </p:grpSpPr>
        <p:sp>
          <p:nvSpPr>
            <p:cNvPr id="69" name="Google Shape;69;p16"/>
            <p:cNvSpPr/>
            <p:nvPr/>
          </p:nvSpPr>
          <p:spPr>
            <a:xfrm>
              <a:off x="0" y="0"/>
              <a:ext cx="457200" cy="4572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60000" y="0"/>
                  </a:lnTo>
                  <a:lnTo>
                    <a:pt x="60000" y="30000"/>
                  </a:lnTo>
                  <a:lnTo>
                    <a:pt x="120000" y="30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B47D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6"/>
            <p:cNvSpPr txBox="1"/>
            <p:nvPr/>
          </p:nvSpPr>
          <p:spPr>
            <a:xfrm>
              <a:off x="3857353" y="-128641"/>
              <a:ext cx="40800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389">
                  <a:solidFill>
                    <a:srgbClr val="F5F5F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 história de Kyle MacDonald prova o poder absoluto da troca. Com apenas um pequeno clipe de papel vermelho e uma série de catorze trocas sucessivas, ele conseguiu adquirir uma casa de dois andares.</a:t>
              </a:r>
              <a:endParaRPr b="0" i="1" sz="1389">
                <a:solidFill>
                  <a:srgbClr val="F5F5F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080"/>
                </a:spcBef>
                <a:spcAft>
                  <a:spcPts val="0"/>
                </a:spcAft>
                <a:buNone/>
              </a:pPr>
              <a:r>
                <a:rPr b="0" lang="en" sz="1147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Este marco histórico demonstra que o valor é subjetivo e que a liquidez financeira não é o único meio para adquirir bens de alto valor. O conceito de permuta tem um potencial ilimitado quando as pessoas certas são conectadas no momento certo.</a:t>
              </a:r>
              <a:endParaRPr b="0" sz="1147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440"/>
                </a:spcBef>
                <a:spcAft>
                  <a:spcPts val="720"/>
                </a:spcAft>
                <a:buNone/>
              </a:pPr>
              <a:r>
                <a:rPr b="0" lang="en" sz="918">
                  <a:solidFill>
                    <a:schemeClr val="accent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Kyle MacDonald · O Poder da Permuta</a:t>
              </a:r>
              <a:endParaRPr b="0" sz="918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71" name="Google Shape;71;p16" title="LogoRubikMeCuboENo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599" y="351200"/>
            <a:ext cx="1055904" cy="933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 title="paper-clip-against-white-background_1048944-755585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905024">
            <a:off x="5798040" y="3205889"/>
            <a:ext cx="3226490" cy="215099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/>
          <p:nvPr/>
        </p:nvSpPr>
        <p:spPr>
          <a:xfrm>
            <a:off x="87425" y="1950450"/>
            <a:ext cx="3543000" cy="2373600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in-2005-kyle-macdonald-started-with-one-red-paperclip-and-v0-sznw57d1f4sd1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625" y="2054150"/>
            <a:ext cx="3332608" cy="216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70">
                <a:solidFill>
                  <a:srgbClr val="EEFF41"/>
                </a:solidFill>
                <a:latin typeface="Bebas Neue"/>
                <a:ea typeface="Bebas Neue"/>
                <a:cs typeface="Bebas Neue"/>
                <a:sym typeface="Bebas Neue"/>
              </a:rPr>
              <a:t>O PROBLEMA</a:t>
            </a:r>
            <a:endParaRPr b="1" sz="3570">
              <a:solidFill>
                <a:srgbClr val="EEFF4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381000" y="1047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9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b="1" lang="en" sz="1190">
                <a:solidFill>
                  <a:srgbClr val="EEFF41"/>
                </a:solidFill>
                <a:latin typeface="Inter"/>
                <a:ea typeface="Inter"/>
                <a:cs typeface="Inter"/>
                <a:sym typeface="Inter"/>
              </a:rPr>
              <a:t>dupla coincidência de vontades</a:t>
            </a:r>
            <a:r>
              <a:rPr b="0" lang="en" sz="119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 é a maior barreira na economia de permuta. A troca direta tradicional falha porque a Pessoa A tem o que a Pessoa B quer, mas a Pessoa B não tem o que a Pessoa A deseja em retorno.</a:t>
            </a:r>
            <a:endParaRPr b="0" sz="119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381000" y="180975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EFF41"/>
                </a:solidFill>
                <a:latin typeface="Inter"/>
                <a:ea typeface="Inter"/>
                <a:cs typeface="Inter"/>
                <a:sym typeface="Inter"/>
              </a:rPr>
              <a:t>O custo real desta ineficiência no mercado é profundo:</a:t>
            </a:r>
            <a:endParaRPr b="1" sz="1400">
              <a:solidFill>
                <a:srgbClr val="EEFF4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2" name="Google Shape;82;p17"/>
          <p:cNvGrpSpPr/>
          <p:nvPr/>
        </p:nvGrpSpPr>
        <p:grpSpPr>
          <a:xfrm>
            <a:off x="381000" y="2286000"/>
            <a:ext cx="2667000" cy="1905000"/>
            <a:chOff x="0" y="0"/>
            <a:chExt cx="2667000" cy="1905000"/>
          </a:xfrm>
        </p:grpSpPr>
        <p:sp>
          <p:nvSpPr>
            <p:cNvPr id="83" name="Google Shape;83;p17"/>
            <p:cNvSpPr/>
            <p:nvPr/>
          </p:nvSpPr>
          <p:spPr>
            <a:xfrm>
              <a:off x="0" y="0"/>
              <a:ext cx="2667000" cy="1905000"/>
            </a:xfrm>
            <a:prstGeom prst="roundRect">
              <a:avLst>
                <a:gd fmla="val 0" name="adj"/>
              </a:avLst>
            </a:prstGeom>
            <a:solidFill>
              <a:srgbClr val="1A1A1A"/>
            </a:solidFill>
            <a:ln cap="flat" cmpd="sng" w="38100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7"/>
            <p:cNvSpPr txBox="1"/>
            <p:nvPr/>
          </p:nvSpPr>
          <p:spPr>
            <a:xfrm>
              <a:off x="190500" y="22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B47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person_off</a:t>
              </a:r>
              <a:endParaRPr sz="2400">
                <a:solidFill>
                  <a:srgbClr val="00B47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5" name="Google Shape;85;p17"/>
            <p:cNvSpPr txBox="1"/>
            <p:nvPr/>
          </p:nvSpPr>
          <p:spPr>
            <a:xfrm>
              <a:off x="190500" y="666750"/>
              <a:ext cx="2286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Baixo Sucesso</a:t>
              </a:r>
              <a:endParaRPr b="1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1 em cada 3 portugueses já tentou realizar trocas online sem sucesso consistente.</a:t>
              </a:r>
              <a:endParaRPr sz="11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6" name="Google Shape;86;p17"/>
          <p:cNvGrpSpPr/>
          <p:nvPr/>
        </p:nvGrpSpPr>
        <p:grpSpPr>
          <a:xfrm>
            <a:off x="3238500" y="2286000"/>
            <a:ext cx="2667000" cy="1905000"/>
            <a:chOff x="0" y="0"/>
            <a:chExt cx="2667000" cy="1905000"/>
          </a:xfrm>
        </p:grpSpPr>
        <p:sp>
          <p:nvSpPr>
            <p:cNvPr id="87" name="Google Shape;87;p17"/>
            <p:cNvSpPr/>
            <p:nvPr/>
          </p:nvSpPr>
          <p:spPr>
            <a:xfrm>
              <a:off x="0" y="0"/>
              <a:ext cx="2667000" cy="1905000"/>
            </a:xfrm>
            <a:prstGeom prst="roundRect">
              <a:avLst>
                <a:gd fmla="val 0" name="adj"/>
              </a:avLst>
            </a:prstGeom>
            <a:solidFill>
              <a:srgbClr val="1A1A1A"/>
            </a:solidFill>
            <a:ln cap="flat" cmpd="sng" w="38100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7"/>
            <p:cNvSpPr txBox="1"/>
            <p:nvPr/>
          </p:nvSpPr>
          <p:spPr>
            <a:xfrm>
              <a:off x="190500" y="22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B47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inventory_2</a:t>
              </a:r>
              <a:endParaRPr sz="2400">
                <a:solidFill>
                  <a:srgbClr val="00B47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9" name="Google Shape;89;p17"/>
            <p:cNvSpPr txBox="1"/>
            <p:nvPr/>
          </p:nvSpPr>
          <p:spPr>
            <a:xfrm>
              <a:off x="190500" y="666750"/>
              <a:ext cx="2286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Falta de Liquidez</a:t>
              </a:r>
              <a:endParaRPr b="1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Plataformas de classificados estão repletas de itens parados e sem liquidez no mercado.</a:t>
              </a:r>
              <a:endParaRPr sz="11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0" name="Google Shape;90;p17"/>
          <p:cNvGrpSpPr/>
          <p:nvPr/>
        </p:nvGrpSpPr>
        <p:grpSpPr>
          <a:xfrm>
            <a:off x="6096000" y="2286000"/>
            <a:ext cx="2667000" cy="1905000"/>
            <a:chOff x="0" y="0"/>
            <a:chExt cx="2667000" cy="1905000"/>
          </a:xfrm>
        </p:grpSpPr>
        <p:sp>
          <p:nvSpPr>
            <p:cNvPr id="91" name="Google Shape;91;p17"/>
            <p:cNvSpPr/>
            <p:nvPr/>
          </p:nvSpPr>
          <p:spPr>
            <a:xfrm>
              <a:off x="0" y="0"/>
              <a:ext cx="2667000" cy="1905000"/>
            </a:xfrm>
            <a:prstGeom prst="roundRect">
              <a:avLst>
                <a:gd fmla="val 0" name="adj"/>
              </a:avLst>
            </a:prstGeom>
            <a:solidFill>
              <a:srgbClr val="1A1A1A"/>
            </a:solidFill>
            <a:ln cap="flat" cmpd="sng" w="38100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7"/>
            <p:cNvSpPr txBox="1"/>
            <p:nvPr/>
          </p:nvSpPr>
          <p:spPr>
            <a:xfrm>
              <a:off x="190500" y="22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B47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money_off</a:t>
              </a:r>
              <a:endParaRPr sz="2400">
                <a:solidFill>
                  <a:srgbClr val="00B47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3" name="Google Shape;93;p17"/>
            <p:cNvSpPr txBox="1"/>
            <p:nvPr/>
          </p:nvSpPr>
          <p:spPr>
            <a:xfrm>
              <a:off x="190500" y="666750"/>
              <a:ext cx="2286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Exclusão Económica</a:t>
              </a:r>
              <a:endParaRPr b="1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Indivíduos com bens de valor enfrentam exclusão por falta de liquidez financeira imediata.</a:t>
              </a:r>
              <a:endParaRPr sz="11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4" name="Google Shape;94;p17"/>
          <p:cNvGrpSpPr/>
          <p:nvPr/>
        </p:nvGrpSpPr>
        <p:grpSpPr>
          <a:xfrm>
            <a:off x="381000" y="4810750"/>
            <a:ext cx="8382000" cy="285750"/>
            <a:chOff x="381000" y="4762500"/>
            <a:chExt cx="8382000" cy="285750"/>
          </a:xfrm>
        </p:grpSpPr>
        <p:cxnSp>
          <p:nvCxnSpPr>
            <p:cNvPr id="95" name="Google Shape;95;p17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" name="Google Shape;96;p17"/>
            <p:cNvSpPr txBox="1"/>
            <p:nvPr/>
          </p:nvSpPr>
          <p:spPr>
            <a:xfrm>
              <a:off x="381000" y="4857750"/>
              <a:ext cx="1905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A3A3A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RubikMe Pitch Deck</a:t>
              </a:r>
              <a:endParaRPr b="0" sz="750">
                <a:solidFill>
                  <a:srgbClr val="A3A3A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97" name="Google Shape;97;p17"/>
            <p:cNvSpPr txBox="1"/>
            <p:nvPr/>
          </p:nvSpPr>
          <p:spPr>
            <a:xfrm>
              <a:off x="6858000" y="4857750"/>
              <a:ext cx="1905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A3A3A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2026-06-17</a:t>
              </a:r>
              <a:endParaRPr b="0" sz="750">
                <a:solidFill>
                  <a:srgbClr val="A3A3A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98" name="Google Shape;9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4479" y="4524451"/>
            <a:ext cx="445800" cy="4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/>
          <p:nvPr/>
        </p:nvSpPr>
        <p:spPr>
          <a:xfrm>
            <a:off x="381000" y="2286000"/>
            <a:ext cx="2667000" cy="1944900"/>
          </a:xfrm>
          <a:prstGeom prst="rect">
            <a:avLst/>
          </a:prstGeom>
          <a:noFill/>
          <a:ln cap="flat" cmpd="sng" w="38100">
            <a:solidFill>
              <a:srgbClr val="EEF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3238500" y="2286150"/>
            <a:ext cx="2667000" cy="1944900"/>
          </a:xfrm>
          <a:prstGeom prst="rect">
            <a:avLst/>
          </a:prstGeom>
          <a:noFill/>
          <a:ln cap="flat" cmpd="sng" w="38100">
            <a:solidFill>
              <a:srgbClr val="EE13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6096000" y="2279924"/>
            <a:ext cx="2667000" cy="1944900"/>
          </a:xfrm>
          <a:prstGeom prst="rect">
            <a:avLst/>
          </a:prstGeom>
          <a:noFill/>
          <a:ln cap="flat" cmpd="sng" w="38100">
            <a:solidFill>
              <a:srgbClr val="EEF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0364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8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107" name="Google Shape;107;p18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8" name="Google Shape;108;p18"/>
            <p:cNvSpPr txBox="1"/>
            <p:nvPr/>
          </p:nvSpPr>
          <p:spPr>
            <a:xfrm>
              <a:off x="381000" y="48577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RubikMe Pitch Deck</a:t>
              </a:r>
              <a:endParaRPr/>
            </a:p>
          </p:txBody>
        </p:sp>
        <p:sp>
          <p:nvSpPr>
            <p:cNvPr id="109" name="Google Shape;109;p18"/>
            <p:cNvSpPr txBox="1"/>
            <p:nvPr/>
          </p:nvSpPr>
          <p:spPr>
            <a:xfrm>
              <a:off x="6858000" y="48577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2026-06-17</a:t>
              </a:r>
              <a:endParaRPr/>
            </a:p>
          </p:txBody>
        </p:sp>
      </p:grpSp>
      <p:sp>
        <p:nvSpPr>
          <p:cNvPr id="110" name="Google Shape;110;p18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EEFF41"/>
                </a:solidFill>
                <a:latin typeface="Bebas Neue"/>
                <a:ea typeface="Bebas Neue"/>
                <a:cs typeface="Bebas Neue"/>
                <a:sym typeface="Bebas Neue"/>
              </a:rPr>
              <a:t>CÍRCULOS DE TROCA</a:t>
            </a:r>
            <a:endParaRPr b="1" sz="3600">
              <a:solidFill>
                <a:srgbClr val="EEFF4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381000" y="1014775"/>
            <a:ext cx="3810000" cy="2808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EE1379"/>
                </a:solidFill>
                <a:latin typeface="Inter"/>
                <a:ea typeface="Inter"/>
                <a:cs typeface="Inter"/>
                <a:sym typeface="Inter"/>
              </a:rPr>
              <a:t>A solução para a ineficiência da troca direta é a criação de ecossistemas multilaterais. O RubikMe elimina a necessidade de dupla coincidência de vontades através de Círculos de Troca Automáticos.</a:t>
            </a:r>
            <a:endParaRPr b="0" sz="1100">
              <a:solidFill>
                <a:srgbClr val="EE137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B47D"/>
                </a:solidFill>
                <a:latin typeface="Inter"/>
                <a:ea typeface="Inter"/>
                <a:cs typeface="Inter"/>
                <a:sym typeface="Inter"/>
              </a:rPr>
              <a:t>Como a cadeia de valor flui:</a:t>
            </a:r>
            <a:endParaRPr b="1" sz="1000">
              <a:solidFill>
                <a:srgbClr val="00B47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0B47D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b="0" lang="en" sz="11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 Ana entrega o seu casaco ao Bruno.</a:t>
            </a:r>
            <a:endParaRPr b="0" sz="110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0B47D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b="0" lang="en" sz="11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O Bruno entrega o seu telemóvel ao Carlos.</a:t>
            </a:r>
            <a:endParaRPr b="0" sz="110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0B47D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b="0" lang="en" sz="11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O Carlos entrega a sua câmara fotográfica à Ana.</a:t>
            </a:r>
            <a:endParaRPr b="0" sz="110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1" lang="en" sz="10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O algoritmo do Rub</a:t>
            </a:r>
            <a:r>
              <a:rPr i="1" lang="en" sz="10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ikMe</a:t>
            </a:r>
            <a:r>
              <a:rPr b="0" i="1" lang="en" sz="10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 deteta estes ciclos fechados em tempo real. Sem dinheiro, sem dependência de liquidez, apenas a taxa de serviço da aplicação.</a:t>
            </a:r>
            <a:endParaRPr b="0" i="1" sz="1000">
              <a:solidFill>
                <a:srgbClr val="A3A3A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4479" y="4524451"/>
            <a:ext cx="445800" cy="4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 title="gray-camera-icon-p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9268" y="2983850"/>
            <a:ext cx="439777" cy="4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 title="mob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4700" y="2831750"/>
            <a:ext cx="396876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 title="electric-scooter-icon-modern-transportation-with-minimalist-design-for-urban-mobility-and-eco-friendly-movement-vector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5650" y="503375"/>
            <a:ext cx="667925" cy="667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18"/>
          <p:cNvGrpSpPr/>
          <p:nvPr/>
        </p:nvGrpSpPr>
        <p:grpSpPr>
          <a:xfrm>
            <a:off x="5323100" y="1285875"/>
            <a:ext cx="2942100" cy="3052838"/>
            <a:chOff x="560600" y="0"/>
            <a:chExt cx="2942100" cy="3052838"/>
          </a:xfrm>
        </p:grpSpPr>
        <p:pic>
          <p:nvPicPr>
            <p:cNvPr id="117" name="Google Shape;117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61988" y="376238"/>
              <a:ext cx="2676600" cy="2676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8" name="Google Shape;118;p18"/>
            <p:cNvGrpSpPr/>
            <p:nvPr/>
          </p:nvGrpSpPr>
          <p:grpSpPr>
            <a:xfrm>
              <a:off x="1619250" y="0"/>
              <a:ext cx="762000" cy="762000"/>
              <a:chOff x="0" y="0"/>
              <a:chExt cx="762000" cy="762000"/>
            </a:xfrm>
          </p:grpSpPr>
          <p:sp>
            <p:nvSpPr>
              <p:cNvPr id="119" name="Google Shape;119;p18"/>
              <p:cNvSpPr/>
              <p:nvPr/>
            </p:nvSpPr>
            <p:spPr>
              <a:xfrm>
                <a:off x="0" y="0"/>
                <a:ext cx="762000" cy="762000"/>
              </a:xfrm>
              <a:prstGeom prst="roundRect">
                <a:avLst>
                  <a:gd fmla="val 50000" name="adj"/>
                </a:avLst>
              </a:prstGeom>
              <a:solidFill>
                <a:srgbClr val="1A1A1A"/>
              </a:solidFill>
              <a:ln cap="flat" cmpd="sng" w="19050">
                <a:solidFill>
                  <a:srgbClr val="00B4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8"/>
              <p:cNvSpPr txBox="1"/>
              <p:nvPr/>
            </p:nvSpPr>
            <p:spPr>
              <a:xfrm>
                <a:off x="0" y="0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ANA</a:t>
                </a:r>
                <a:endParaRPr b="1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1" name="Google Shape;121;p18"/>
            <p:cNvGrpSpPr/>
            <p:nvPr/>
          </p:nvGrpSpPr>
          <p:grpSpPr>
            <a:xfrm>
              <a:off x="2740700" y="2061438"/>
              <a:ext cx="762000" cy="762000"/>
              <a:chOff x="-497800" y="-415062"/>
              <a:chExt cx="762000" cy="762000"/>
            </a:xfrm>
          </p:grpSpPr>
          <p:sp>
            <p:nvSpPr>
              <p:cNvPr id="122" name="Google Shape;122;p18"/>
              <p:cNvSpPr/>
              <p:nvPr/>
            </p:nvSpPr>
            <p:spPr>
              <a:xfrm>
                <a:off x="-497800" y="-415062"/>
                <a:ext cx="762000" cy="762000"/>
              </a:xfrm>
              <a:prstGeom prst="roundRect">
                <a:avLst>
                  <a:gd fmla="val 50000" name="adj"/>
                </a:avLst>
              </a:prstGeom>
              <a:solidFill>
                <a:srgbClr val="1A1A1A"/>
              </a:solidFill>
              <a:ln cap="flat" cmpd="sng" w="19050">
                <a:solidFill>
                  <a:srgbClr val="00B4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8"/>
              <p:cNvSpPr txBox="1"/>
              <p:nvPr/>
            </p:nvSpPr>
            <p:spPr>
              <a:xfrm>
                <a:off x="-497800" y="-415062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BRUNO</a:t>
                </a:r>
                <a:endParaRPr b="1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4" name="Google Shape;124;p18"/>
            <p:cNvGrpSpPr/>
            <p:nvPr/>
          </p:nvGrpSpPr>
          <p:grpSpPr>
            <a:xfrm>
              <a:off x="560600" y="2061450"/>
              <a:ext cx="762000" cy="778400"/>
              <a:chOff x="560600" y="-415050"/>
              <a:chExt cx="762000" cy="778400"/>
            </a:xfrm>
          </p:grpSpPr>
          <p:sp>
            <p:nvSpPr>
              <p:cNvPr id="125" name="Google Shape;125;p18"/>
              <p:cNvSpPr/>
              <p:nvPr/>
            </p:nvSpPr>
            <p:spPr>
              <a:xfrm>
                <a:off x="560600" y="-398650"/>
                <a:ext cx="762000" cy="762000"/>
              </a:xfrm>
              <a:prstGeom prst="roundRect">
                <a:avLst>
                  <a:gd fmla="val 50000" name="adj"/>
                </a:avLst>
              </a:prstGeom>
              <a:solidFill>
                <a:srgbClr val="1A1A1A"/>
              </a:solidFill>
              <a:ln cap="flat" cmpd="sng" w="19050">
                <a:solidFill>
                  <a:srgbClr val="00B4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8"/>
              <p:cNvSpPr txBox="1"/>
              <p:nvPr/>
            </p:nvSpPr>
            <p:spPr>
              <a:xfrm>
                <a:off x="560600" y="-415050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CARLOS</a:t>
                </a:r>
                <a:endParaRPr b="1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0364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9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132" name="Google Shape;132;p19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3" name="Google Shape;133;p19"/>
            <p:cNvSpPr txBox="1"/>
            <p:nvPr/>
          </p:nvSpPr>
          <p:spPr>
            <a:xfrm>
              <a:off x="381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581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 viabilidade da troca é garantida com uma taxa de aplicação de €4,99, com opções integradas de seguro e transporte seguro.</a:t>
              </a:r>
              <a:endParaRPr sz="1085"/>
            </a:p>
          </p:txBody>
        </p:sp>
        <p:sp>
          <p:nvSpPr>
            <p:cNvPr id="134" name="Google Shape;134;p19"/>
            <p:cNvSpPr txBox="1"/>
            <p:nvPr/>
          </p:nvSpPr>
          <p:spPr>
            <a:xfrm>
              <a:off x="6858000" y="48577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2026-06-17</a:t>
              </a:r>
              <a:endParaRPr/>
            </a:p>
          </p:txBody>
        </p:sp>
      </p:grpSp>
      <p:grpSp>
        <p:nvGrpSpPr>
          <p:cNvPr id="135" name="Google Shape;135;p19"/>
          <p:cNvGrpSpPr/>
          <p:nvPr/>
        </p:nvGrpSpPr>
        <p:grpSpPr>
          <a:xfrm>
            <a:off x="381000" y="1714500"/>
            <a:ext cx="2667000" cy="2476500"/>
            <a:chOff x="0" y="0"/>
            <a:chExt cx="2667000" cy="2476500"/>
          </a:xfrm>
        </p:grpSpPr>
        <p:sp>
          <p:nvSpPr>
            <p:cNvPr id="136" name="Google Shape;136;p19"/>
            <p:cNvSpPr/>
            <p:nvPr/>
          </p:nvSpPr>
          <p:spPr>
            <a:xfrm>
              <a:off x="0" y="0"/>
              <a:ext cx="2667000" cy="2476500"/>
            </a:xfrm>
            <a:prstGeom prst="roundRect">
              <a:avLst>
                <a:gd fmla="val 1538" name="adj"/>
              </a:avLst>
            </a:prstGeom>
            <a:solidFill>
              <a:srgbClr val="1A1A1A"/>
            </a:solidFill>
            <a:ln cap="flat" cmpd="sng" w="19050">
              <a:solidFill>
                <a:srgbClr val="EEFF4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9"/>
            <p:cNvSpPr txBox="1"/>
            <p:nvPr/>
          </p:nvSpPr>
          <p:spPr>
            <a:xfrm>
              <a:off x="190500" y="190500"/>
              <a:ext cx="2286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EEFF4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01</a:t>
              </a:r>
              <a:endParaRPr sz="2800">
                <a:solidFill>
                  <a:srgbClr val="EEFF4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Publica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O utilizador adiciona os seus itens disponíveis para troca e define os seus desejos específicos na plataforma.</a:t>
              </a:r>
              <a:endParaRPr b="0" sz="115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8" name="Google Shape;138;p19"/>
          <p:cNvGrpSpPr/>
          <p:nvPr/>
        </p:nvGrpSpPr>
        <p:grpSpPr>
          <a:xfrm>
            <a:off x="3238500" y="1714500"/>
            <a:ext cx="2667000" cy="2476500"/>
            <a:chOff x="0" y="0"/>
            <a:chExt cx="2667000" cy="2476500"/>
          </a:xfrm>
        </p:grpSpPr>
        <p:sp>
          <p:nvSpPr>
            <p:cNvPr id="139" name="Google Shape;139;p19"/>
            <p:cNvSpPr/>
            <p:nvPr/>
          </p:nvSpPr>
          <p:spPr>
            <a:xfrm>
              <a:off x="0" y="0"/>
              <a:ext cx="2667000" cy="2476500"/>
            </a:xfrm>
            <a:prstGeom prst="roundRect">
              <a:avLst>
                <a:gd fmla="val 1538" name="adj"/>
              </a:avLst>
            </a:prstGeom>
            <a:solidFill>
              <a:srgbClr val="1A1A1A"/>
            </a:solidFill>
            <a:ln cap="flat" cmpd="sng" w="19050">
              <a:solidFill>
                <a:srgbClr val="00B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9"/>
            <p:cNvSpPr txBox="1"/>
            <p:nvPr/>
          </p:nvSpPr>
          <p:spPr>
            <a:xfrm>
              <a:off x="190500" y="190500"/>
              <a:ext cx="2286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00B47D"/>
                  </a:solidFill>
                  <a:latin typeface="Bebas Neue"/>
                  <a:ea typeface="Bebas Neue"/>
                  <a:cs typeface="Bebas Neue"/>
                  <a:sym typeface="Bebas Neue"/>
                </a:rPr>
                <a:t>02</a:t>
              </a:r>
              <a:endParaRPr sz="2800">
                <a:solidFill>
                  <a:srgbClr val="00B47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Algoritmo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O nosso motor de grafos avançado (DFS) analisa continuamente as ofertas e demandas para identificar rotas de troca viáveis.</a:t>
              </a:r>
              <a:endParaRPr b="0" sz="115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1" name="Google Shape;141;p19"/>
          <p:cNvGrpSpPr/>
          <p:nvPr/>
        </p:nvGrpSpPr>
        <p:grpSpPr>
          <a:xfrm>
            <a:off x="6096000" y="1714500"/>
            <a:ext cx="2667000" cy="2476500"/>
            <a:chOff x="0" y="0"/>
            <a:chExt cx="2667000" cy="2476500"/>
          </a:xfrm>
        </p:grpSpPr>
        <p:sp>
          <p:nvSpPr>
            <p:cNvPr id="142" name="Google Shape;142;p19"/>
            <p:cNvSpPr/>
            <p:nvPr/>
          </p:nvSpPr>
          <p:spPr>
            <a:xfrm>
              <a:off x="0" y="0"/>
              <a:ext cx="2667000" cy="2476500"/>
            </a:xfrm>
            <a:prstGeom prst="roundRect">
              <a:avLst>
                <a:gd fmla="val 1538" name="adj"/>
              </a:avLst>
            </a:prstGeom>
            <a:solidFill>
              <a:srgbClr val="1A1A1A"/>
            </a:solidFill>
            <a:ln cap="flat" cmpd="sng" w="19050">
              <a:solidFill>
                <a:srgbClr val="EEFF4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9"/>
            <p:cNvSpPr txBox="1"/>
            <p:nvPr/>
          </p:nvSpPr>
          <p:spPr>
            <a:xfrm>
              <a:off x="190500" y="190500"/>
              <a:ext cx="2286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EEFF4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03</a:t>
              </a:r>
              <a:endParaRPr sz="2800">
                <a:solidFill>
                  <a:srgbClr val="EEFF4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Notificação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Assim que um ciclo perfeito é detetado, o sistema notifica todos os participantes para aceitar ou recusar a transação.</a:t>
              </a:r>
              <a:endParaRPr b="0" sz="115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44" name="Google Shape;144;p19" title="LogoRubikMeSoCub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4475" y="4524450"/>
            <a:ext cx="445725" cy="4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381000" y="476250"/>
            <a:ext cx="838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55">
                <a:solidFill>
                  <a:srgbClr val="EEFF41"/>
                </a:solidFill>
                <a:latin typeface="Bebas Neue"/>
                <a:ea typeface="Bebas Neue"/>
                <a:cs typeface="Bebas Neue"/>
                <a:sym typeface="Bebas Neue"/>
              </a:rPr>
              <a:t>3 PASSOS, 1 ALGORITMO</a:t>
            </a:r>
            <a:endParaRPr b="1" sz="3255">
              <a:solidFill>
                <a:srgbClr val="EEFF4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085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A complexidade tecnológica do RubikMe é totalmente invisível para o utilizador, operando através de um fluxo de três passos simples:</a:t>
            </a:r>
            <a:endParaRPr b="0" sz="1085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6" name="Google Shape;146;p19"/>
          <p:cNvPicPr preferRelativeResize="0"/>
          <p:nvPr/>
        </p:nvPicPr>
        <p:blipFill rotWithShape="1">
          <a:blip r:embed="rId3">
            <a:alphaModFix/>
          </a:blip>
          <a:srcRect b="0" l="2963" r="2972" t="0"/>
          <a:stretch/>
        </p:blipFill>
        <p:spPr>
          <a:xfrm>
            <a:off x="8382000" y="452437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B0B7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0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152" name="Google Shape;152;p20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" name="Google Shape;153;p20"/>
            <p:cNvSpPr txBox="1"/>
            <p:nvPr/>
          </p:nvSpPr>
          <p:spPr>
            <a:xfrm>
              <a:off x="381000" y="48577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RubikMe Pitch Deck</a:t>
              </a:r>
              <a:endParaRPr/>
            </a:p>
          </p:txBody>
        </p:sp>
        <p:sp>
          <p:nvSpPr>
            <p:cNvPr id="154" name="Google Shape;154;p20"/>
            <p:cNvSpPr txBox="1"/>
            <p:nvPr/>
          </p:nvSpPr>
          <p:spPr>
            <a:xfrm>
              <a:off x="6858000" y="48577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2026-06-17</a:t>
              </a:r>
              <a:endParaRPr/>
            </a:p>
          </p:txBody>
        </p:sp>
      </p:grpSp>
      <p:cxnSp>
        <p:nvCxnSpPr>
          <p:cNvPr id="155" name="Google Shape;155;p20"/>
          <p:cNvCxnSpPr/>
          <p:nvPr/>
        </p:nvCxnSpPr>
        <p:spPr>
          <a:xfrm>
            <a:off x="381000" y="1000125"/>
            <a:ext cx="381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00B4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20"/>
          <p:cNvSpPr txBox="1"/>
          <p:nvPr/>
        </p:nvSpPr>
        <p:spPr>
          <a:xfrm>
            <a:off x="381000" y="285750"/>
            <a:ext cx="8382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EEFF41"/>
                </a:solidFill>
                <a:latin typeface="Bebas Neue"/>
                <a:ea typeface="Bebas Neue"/>
                <a:cs typeface="Bebas Neue"/>
                <a:sym typeface="Bebas Neue"/>
              </a:rPr>
              <a:t>MODELO DE RECEITA E AVALIAÇÃO INTELIGENTE</a:t>
            </a:r>
            <a:endParaRPr b="1" sz="3600">
              <a:solidFill>
                <a:srgbClr val="EEFF4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O modelo de monetização do RubikMe foi desenhado para ser transparente para o utilizador e altamente rentável para a operação, garantindo sustentabilidade a longo prazo.</a:t>
            </a:r>
            <a:endParaRPr b="0" sz="1200">
              <a:solidFill>
                <a:srgbClr val="A3A3A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2963" r="2972" t="0"/>
          <a:stretch/>
        </p:blipFill>
        <p:spPr>
          <a:xfrm>
            <a:off x="8382000" y="4524375"/>
            <a:ext cx="381000" cy="38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20"/>
          <p:cNvGrpSpPr/>
          <p:nvPr/>
        </p:nvGrpSpPr>
        <p:grpSpPr>
          <a:xfrm>
            <a:off x="6096000" y="1524000"/>
            <a:ext cx="2667000" cy="2190900"/>
            <a:chOff x="0" y="0"/>
            <a:chExt cx="2667000" cy="2190900"/>
          </a:xfrm>
        </p:grpSpPr>
        <p:sp>
          <p:nvSpPr>
            <p:cNvPr id="159" name="Google Shape;159;p20"/>
            <p:cNvSpPr/>
            <p:nvPr/>
          </p:nvSpPr>
          <p:spPr>
            <a:xfrm>
              <a:off x="0" y="0"/>
              <a:ext cx="2667000" cy="2190900"/>
            </a:xfrm>
            <a:prstGeom prst="rect">
              <a:avLst/>
            </a:prstGeom>
            <a:solidFill>
              <a:srgbClr val="1A1A1A">
                <a:alpha val="30000"/>
              </a:srgbClr>
            </a:solidFill>
            <a:ln cap="flat" cmpd="sng" w="19050">
              <a:solidFill>
                <a:srgbClr val="EEFF4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0"/>
            <p:cNvSpPr txBox="1"/>
            <p:nvPr/>
          </p:nvSpPr>
          <p:spPr>
            <a:xfrm>
              <a:off x="190500" y="190500"/>
              <a:ext cx="2286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EEFF4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ENTREGA FLEXÍVEL</a:t>
              </a:r>
              <a:endParaRPr b="0" sz="800">
                <a:solidFill>
                  <a:srgbClr val="EEFF4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Custo Zero de Atrito</a:t>
              </a:r>
              <a:endParaRPr b="0"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0B47D"/>
                  </a:solidFill>
                  <a:latin typeface="Inter"/>
                  <a:ea typeface="Inter"/>
                  <a:cs typeface="Inter"/>
                  <a:sym typeface="Inter"/>
                </a:rPr>
                <a:t>Entrega em Mãos:</a:t>
              </a:r>
              <a:r>
                <a:rPr b="0" lang="en" sz="80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 Portes </a:t>
              </a:r>
              <a:r>
                <a:rPr b="1" lang="en" sz="800">
                  <a:solidFill>
                    <a:srgbClr val="EEFF41"/>
                  </a:solidFill>
                  <a:latin typeface="Inter"/>
                  <a:ea typeface="Inter"/>
                  <a:cs typeface="Inter"/>
                  <a:sym typeface="Inter"/>
                </a:rPr>
                <a:t>€0,00</a:t>
              </a:r>
              <a:r>
                <a:rPr b="0" lang="en" sz="80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. Encontros físicos em Campus Sandbox (ex: IPB).</a:t>
              </a:r>
              <a:endParaRPr b="0" sz="8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0B47D"/>
                  </a:solidFill>
                  <a:latin typeface="Inter"/>
                  <a:ea typeface="Inter"/>
                  <a:cs typeface="Inter"/>
                  <a:sym typeface="Inter"/>
                </a:rPr>
                <a:t>Transportadora:</a:t>
              </a:r>
              <a:r>
                <a:rPr b="0" lang="en" sz="80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 Pago pelo destinatário. Etiqueta gerada automaticamente.</a:t>
              </a:r>
              <a:endParaRPr b="0" sz="8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1" name="Google Shape;161;p20"/>
          <p:cNvGrpSpPr/>
          <p:nvPr/>
        </p:nvGrpSpPr>
        <p:grpSpPr>
          <a:xfrm>
            <a:off x="381000" y="3905250"/>
            <a:ext cx="8382000" cy="476400"/>
            <a:chOff x="0" y="0"/>
            <a:chExt cx="8382000" cy="476400"/>
          </a:xfrm>
        </p:grpSpPr>
        <p:sp>
          <p:nvSpPr>
            <p:cNvPr id="162" name="Google Shape;162;p20"/>
            <p:cNvSpPr/>
            <p:nvPr/>
          </p:nvSpPr>
          <p:spPr>
            <a:xfrm>
              <a:off x="0" y="0"/>
              <a:ext cx="8382000" cy="476400"/>
            </a:xfrm>
            <a:prstGeom prst="roundRect">
              <a:avLst>
                <a:gd fmla="val 20000" name="adj"/>
              </a:avLst>
            </a:prstGeom>
            <a:solidFill>
              <a:srgbClr val="EEFF4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0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O RubikMe elimina a arbitrariedade. O motor de buscas define o valor do ativo para garantir a proteção total e a sustentabilidade financeira da plataforma.</a:t>
              </a:r>
              <a:endParaRPr b="0" sz="10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4" name="Google Shape;164;p20"/>
          <p:cNvGrpSpPr/>
          <p:nvPr/>
        </p:nvGrpSpPr>
        <p:grpSpPr>
          <a:xfrm>
            <a:off x="381000" y="1524000"/>
            <a:ext cx="2667000" cy="2190900"/>
            <a:chOff x="0" y="0"/>
            <a:chExt cx="2667000" cy="2190900"/>
          </a:xfrm>
        </p:grpSpPr>
        <p:sp>
          <p:nvSpPr>
            <p:cNvPr id="165" name="Google Shape;165;p20"/>
            <p:cNvSpPr/>
            <p:nvPr/>
          </p:nvSpPr>
          <p:spPr>
            <a:xfrm>
              <a:off x="0" y="0"/>
              <a:ext cx="2667000" cy="2190900"/>
            </a:xfrm>
            <a:prstGeom prst="rect">
              <a:avLst/>
            </a:prstGeom>
            <a:solidFill>
              <a:srgbClr val="1A1A1A">
                <a:alpha val="30000"/>
              </a:srgbClr>
            </a:solidFill>
            <a:ln cap="flat" cmpd="sng" w="19050">
              <a:solidFill>
                <a:srgbClr val="EEFF4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0"/>
            <p:cNvSpPr txBox="1"/>
            <p:nvPr/>
          </p:nvSpPr>
          <p:spPr>
            <a:xfrm>
              <a:off x="190500" y="190500"/>
              <a:ext cx="2286000" cy="18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00B47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RECEITA DIRETA E TAXAS</a:t>
              </a:r>
              <a:endParaRPr b="0" sz="800">
                <a:solidFill>
                  <a:srgbClr val="00B47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E1379"/>
                  </a:solidFill>
                  <a:latin typeface="Inter"/>
                  <a:ea typeface="Inter"/>
                  <a:cs typeface="Inter"/>
                  <a:sym typeface="Inter"/>
                </a:rPr>
                <a:t>5%</a:t>
              </a:r>
              <a:r>
                <a:rPr b="1" lang="en" sz="28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+</a:t>
              </a:r>
              <a:r>
                <a:rPr b="1" lang="en" sz="2800">
                  <a:solidFill>
                    <a:srgbClr val="EEFF41"/>
                  </a:solidFill>
                  <a:latin typeface="Inter"/>
                  <a:ea typeface="Inter"/>
                  <a:cs typeface="Inter"/>
                  <a:sym typeface="Inter"/>
                </a:rPr>
                <a:t>2%</a:t>
              </a:r>
              <a:endParaRPr b="0" sz="800">
                <a:solidFill>
                  <a:srgbClr val="00B47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EE137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Comissão sobre o Valor Real</a:t>
              </a:r>
              <a:r>
                <a:rPr b="0" lang="en" sz="8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+</a:t>
              </a:r>
              <a:r>
                <a:rPr b="0" lang="en" sz="800">
                  <a:solidFill>
                    <a:srgbClr val="EEFF4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Taxa de Proteção</a:t>
              </a:r>
              <a:endParaRPr b="0" sz="800">
                <a:solidFill>
                  <a:srgbClr val="EE137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Calculada automaticamente através de pesquisa de mercado em tempo real. O sistema define o valor justo do bem.</a:t>
              </a:r>
              <a:endParaRPr b="0" sz="8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7" name="Google Shape;167;p20"/>
          <p:cNvGrpSpPr/>
          <p:nvPr/>
        </p:nvGrpSpPr>
        <p:grpSpPr>
          <a:xfrm>
            <a:off x="3238500" y="1524000"/>
            <a:ext cx="2667000" cy="2190900"/>
            <a:chOff x="0" y="0"/>
            <a:chExt cx="2667000" cy="2190900"/>
          </a:xfrm>
        </p:grpSpPr>
        <p:sp>
          <p:nvSpPr>
            <p:cNvPr id="168" name="Google Shape;168;p20"/>
            <p:cNvSpPr/>
            <p:nvPr/>
          </p:nvSpPr>
          <p:spPr>
            <a:xfrm>
              <a:off x="0" y="0"/>
              <a:ext cx="2667000" cy="2190900"/>
            </a:xfrm>
            <a:prstGeom prst="rect">
              <a:avLst/>
            </a:prstGeom>
            <a:solidFill>
              <a:srgbClr val="1A1A1A">
                <a:alpha val="30000"/>
              </a:srgbClr>
            </a:solidFill>
            <a:ln cap="flat" cmpd="sng" w="19050">
              <a:solidFill>
                <a:srgbClr val="00B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190500" y="190500"/>
              <a:ext cx="2286000" cy="18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00B47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EFICIÊNCIA</a:t>
              </a:r>
              <a:endParaRPr b="0" sz="800">
                <a:solidFill>
                  <a:srgbClr val="00B47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0B47D"/>
                  </a:solidFill>
                  <a:latin typeface="Inter"/>
                  <a:ea typeface="Inter"/>
                  <a:cs typeface="Inter"/>
                  <a:sym typeface="Inter"/>
                </a:rPr>
                <a:t>91%</a:t>
              </a:r>
              <a:endParaRPr b="0" sz="800">
                <a:solidFill>
                  <a:srgbClr val="00B47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Escalabilidade de Lucro</a:t>
              </a:r>
              <a:endParaRPr b="0"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A margem cresce proporcionalmente ao valor dos ativos, mantendo o custo operacional marginal próximo de zero.</a:t>
              </a:r>
              <a:endParaRPr b="0" sz="8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1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175" name="Google Shape;175;p21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6" name="Google Shape;176;p21"/>
            <p:cNvSpPr txBox="1"/>
            <p:nvPr/>
          </p:nvSpPr>
          <p:spPr>
            <a:xfrm>
              <a:off x="381000" y="48577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RubikMe Pitch Deck</a:t>
              </a:r>
              <a:endParaRPr/>
            </a:p>
          </p:txBody>
        </p:sp>
        <p:sp>
          <p:nvSpPr>
            <p:cNvPr id="177" name="Google Shape;177;p21"/>
            <p:cNvSpPr txBox="1"/>
            <p:nvPr/>
          </p:nvSpPr>
          <p:spPr>
            <a:xfrm>
              <a:off x="6858000" y="48577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2026-06-17</a:t>
              </a:r>
              <a:endParaRPr/>
            </a:p>
          </p:txBody>
        </p:sp>
      </p:grpSp>
      <p:grpSp>
        <p:nvGrpSpPr>
          <p:cNvPr id="178" name="Google Shape;178;p21"/>
          <p:cNvGrpSpPr/>
          <p:nvPr/>
        </p:nvGrpSpPr>
        <p:grpSpPr>
          <a:xfrm>
            <a:off x="381000" y="1524000"/>
            <a:ext cx="8382000" cy="1714500"/>
            <a:chOff x="0" y="0"/>
            <a:chExt cx="8382000" cy="1714500"/>
          </a:xfrm>
        </p:grpSpPr>
        <p:grpSp>
          <p:nvGrpSpPr>
            <p:cNvPr id="179" name="Google Shape;179;p21"/>
            <p:cNvGrpSpPr/>
            <p:nvPr/>
          </p:nvGrpSpPr>
          <p:grpSpPr>
            <a:xfrm>
              <a:off x="0" y="0"/>
              <a:ext cx="2667000" cy="1714500"/>
              <a:chOff x="0" y="0"/>
              <a:chExt cx="2667000" cy="1714500"/>
            </a:xfrm>
          </p:grpSpPr>
          <p:sp>
            <p:nvSpPr>
              <p:cNvPr id="180" name="Google Shape;180;p21"/>
              <p:cNvSpPr/>
              <p:nvPr/>
            </p:nvSpPr>
            <p:spPr>
              <a:xfrm>
                <a:off x="0" y="0"/>
                <a:ext cx="2667000" cy="1714500"/>
              </a:xfrm>
              <a:prstGeom prst="roundRect">
                <a:avLst>
                  <a:gd fmla="val 0" name="adj"/>
                </a:avLst>
              </a:prstGeom>
              <a:solidFill>
                <a:srgbClr val="1A1A1A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21"/>
              <p:cNvSpPr txBox="1"/>
              <p:nvPr/>
            </p:nvSpPr>
            <p:spPr>
              <a:xfrm>
                <a:off x="190500" y="190500"/>
                <a:ext cx="22860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0B47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TAM</a:t>
                </a:r>
                <a:endParaRPr b="0" sz="1000">
                  <a:solidFill>
                    <a:srgbClr val="00B47D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2400">
                    <a:solidFill>
                      <a:srgbClr val="F5F5F5"/>
                    </a:solidFill>
                    <a:latin typeface="Inter"/>
                    <a:ea typeface="Inter"/>
                    <a:cs typeface="Inter"/>
                    <a:sym typeface="Inter"/>
                  </a:rPr>
                  <a:t>€2B+</a:t>
                </a:r>
                <a:endParaRPr b="1" sz="24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A3A3A3"/>
                    </a:solidFill>
                    <a:latin typeface="Inter"/>
                    <a:ea typeface="Inter"/>
                    <a:cs typeface="Inter"/>
                    <a:sym typeface="Inter"/>
                  </a:rPr>
                  <a:t>Mercado global de segunda mão em Portugal.</a:t>
                </a:r>
                <a:endParaRPr b="0" sz="100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82" name="Google Shape;182;p21"/>
            <p:cNvGrpSpPr/>
            <p:nvPr/>
          </p:nvGrpSpPr>
          <p:grpSpPr>
            <a:xfrm>
              <a:off x="2857500" y="0"/>
              <a:ext cx="2667000" cy="1714500"/>
              <a:chOff x="0" y="0"/>
              <a:chExt cx="2667000" cy="1714500"/>
            </a:xfrm>
          </p:grpSpPr>
          <p:sp>
            <p:nvSpPr>
              <p:cNvPr id="183" name="Google Shape;183;p21"/>
              <p:cNvSpPr/>
              <p:nvPr/>
            </p:nvSpPr>
            <p:spPr>
              <a:xfrm>
                <a:off x="0" y="0"/>
                <a:ext cx="2667000" cy="1714500"/>
              </a:xfrm>
              <a:prstGeom prst="roundRect">
                <a:avLst>
                  <a:gd fmla="val 0" name="adj"/>
                </a:avLst>
              </a:prstGeom>
              <a:solidFill>
                <a:srgbClr val="1A1A1A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21"/>
              <p:cNvSpPr txBox="1"/>
              <p:nvPr/>
            </p:nvSpPr>
            <p:spPr>
              <a:xfrm>
                <a:off x="190500" y="190500"/>
                <a:ext cx="22860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0B47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SAM</a:t>
                </a:r>
                <a:endParaRPr b="0" sz="1000">
                  <a:solidFill>
                    <a:srgbClr val="00B47D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2400">
                    <a:solidFill>
                      <a:srgbClr val="F5F5F5"/>
                    </a:solidFill>
                    <a:latin typeface="Inter"/>
                    <a:ea typeface="Inter"/>
                    <a:cs typeface="Inter"/>
                    <a:sym typeface="Inter"/>
                  </a:rPr>
                  <a:t>€200M</a:t>
                </a:r>
                <a:endParaRPr b="1" sz="24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A3A3A3"/>
                    </a:solidFill>
                    <a:latin typeface="Inter"/>
                    <a:ea typeface="Inter"/>
                    <a:cs typeface="Inter"/>
                    <a:sym typeface="Inter"/>
                  </a:rPr>
                  <a:t>Trocas multilaterais plataformizadas em Portugal.</a:t>
                </a:r>
                <a:endParaRPr b="0" sz="100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85" name="Google Shape;185;p21"/>
            <p:cNvGrpSpPr/>
            <p:nvPr/>
          </p:nvGrpSpPr>
          <p:grpSpPr>
            <a:xfrm>
              <a:off x="5715000" y="0"/>
              <a:ext cx="2667000" cy="1714500"/>
              <a:chOff x="0" y="0"/>
              <a:chExt cx="2667000" cy="1714500"/>
            </a:xfrm>
          </p:grpSpPr>
          <p:sp>
            <p:nvSpPr>
              <p:cNvPr id="186" name="Google Shape;186;p21"/>
              <p:cNvSpPr/>
              <p:nvPr/>
            </p:nvSpPr>
            <p:spPr>
              <a:xfrm>
                <a:off x="0" y="0"/>
                <a:ext cx="2667000" cy="1714500"/>
              </a:xfrm>
              <a:prstGeom prst="roundRect">
                <a:avLst>
                  <a:gd fmla="val 0" name="adj"/>
                </a:avLst>
              </a:prstGeom>
              <a:solidFill>
                <a:srgbClr val="1E3B31"/>
              </a:solidFill>
              <a:ln cap="flat" cmpd="sng" w="19050">
                <a:solidFill>
                  <a:srgbClr val="00B4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21"/>
              <p:cNvSpPr txBox="1"/>
              <p:nvPr/>
            </p:nvSpPr>
            <p:spPr>
              <a:xfrm>
                <a:off x="190500" y="190500"/>
                <a:ext cx="22860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0B47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SOM</a:t>
                </a:r>
                <a:endParaRPr b="0" sz="1000">
                  <a:solidFill>
                    <a:srgbClr val="00B47D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2400">
                    <a:solidFill>
                      <a:srgbClr val="F5F5F5"/>
                    </a:solidFill>
                    <a:latin typeface="Inter"/>
                    <a:ea typeface="Inter"/>
                    <a:cs typeface="Inter"/>
                    <a:sym typeface="Inter"/>
                  </a:rPr>
                  <a:t>€850.500</a:t>
                </a:r>
                <a:endParaRPr b="1" sz="24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Projeção de captura para os primeiros 4 anos.</a:t>
                </a:r>
                <a:endParaRPr b="0" sz="1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88" name="Google Shape;188;p21"/>
          <p:cNvGrpSpPr/>
          <p:nvPr/>
        </p:nvGrpSpPr>
        <p:grpSpPr>
          <a:xfrm>
            <a:off x="376238" y="3424238"/>
            <a:ext cx="8391600" cy="771600"/>
            <a:chOff x="-4762" y="-4762"/>
            <a:chExt cx="8391600" cy="771600"/>
          </a:xfrm>
        </p:grpSpPr>
        <p:pic>
          <p:nvPicPr>
            <p:cNvPr id="189" name="Google Shape;18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62" y="-4762"/>
              <a:ext cx="8391600" cy="7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21"/>
            <p:cNvSpPr txBox="1"/>
            <p:nvPr/>
          </p:nvSpPr>
          <p:spPr>
            <a:xfrm>
              <a:off x="228600" y="0"/>
              <a:ext cx="79248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EEFF4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ALVO INICIAL: ESTUDANTES IPB</a:t>
              </a:r>
              <a:endParaRPr b="0" sz="1100">
                <a:solidFill>
                  <a:srgbClr val="EEFF4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Mercado-teste de 12.000 alunos com alta adoção tecnológica.</a:t>
              </a:r>
              <a:endParaRPr b="0" sz="12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1" name="Google Shape;191;p21"/>
          <p:cNvSpPr txBox="1"/>
          <p:nvPr/>
        </p:nvSpPr>
        <p:spPr>
          <a:xfrm>
            <a:off x="381000" y="47625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90">
                <a:solidFill>
                  <a:srgbClr val="EEFF41"/>
                </a:solidFill>
                <a:latin typeface="Bebas Neue"/>
                <a:ea typeface="Bebas Neue"/>
                <a:cs typeface="Bebas Neue"/>
                <a:sym typeface="Bebas Neue"/>
              </a:rPr>
              <a:t>MERCADO DE €2 MIL MILHÕES</a:t>
            </a:r>
            <a:endParaRPr b="1" sz="2790">
              <a:solidFill>
                <a:srgbClr val="EEFF4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3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O potencial de mercado para a economia circular e de permuta em Portugal é vasto e subaproveitado.</a:t>
            </a:r>
            <a:endParaRPr b="0" sz="930">
              <a:solidFill>
                <a:srgbClr val="A3A3A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376200" y="1524000"/>
            <a:ext cx="8391600" cy="1714500"/>
          </a:xfrm>
          <a:prstGeom prst="rect">
            <a:avLst/>
          </a:prstGeom>
          <a:noFill/>
          <a:ln cap="flat" cmpd="sng" w="38100">
            <a:solidFill>
              <a:srgbClr val="EE13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93" name="Google Shape;19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04479" y="4524451"/>
            <a:ext cx="445800" cy="4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036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9" name="Google Shape;199;p22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22"/>
          <p:cNvSpPr txBox="1"/>
          <p:nvPr/>
        </p:nvSpPr>
        <p:spPr>
          <a:xfrm>
            <a:off x="381000" y="48577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0" lang="en" sz="750">
                <a:solidFill>
                  <a:srgbClr val="555555"/>
                </a:solidFill>
                <a:latin typeface="Inter Medium"/>
                <a:ea typeface="Inter Medium"/>
                <a:cs typeface="Inter Medium"/>
                <a:sym typeface="Inter Medium"/>
              </a:rPr>
              <a:t>RubikMe Pitch Deck</a:t>
            </a:r>
            <a:endParaRPr b="0" sz="750">
              <a:solidFill>
                <a:srgbClr val="555555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6858000" y="48577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300"/>
              </a:spcAft>
              <a:buNone/>
            </a:pPr>
            <a:r>
              <a:rPr b="0" lang="en" sz="750">
                <a:solidFill>
                  <a:srgbClr val="555555"/>
                </a:solidFill>
                <a:latin typeface="Inter Medium"/>
                <a:ea typeface="Inter Medium"/>
                <a:cs typeface="Inter Medium"/>
                <a:sym typeface="Inter Medium"/>
              </a:rPr>
              <a:t>2026-06-19</a:t>
            </a:r>
            <a:endParaRPr b="0" sz="750">
              <a:solidFill>
                <a:srgbClr val="555555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381000" y="428625"/>
            <a:ext cx="57300" cy="4764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571500" y="38100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" sz="3600">
                <a:solidFill>
                  <a:srgbClr val="EEFF41"/>
                </a:solidFill>
                <a:latin typeface="Bebas Neue"/>
                <a:ea typeface="Bebas Neue"/>
                <a:cs typeface="Bebas Neue"/>
                <a:sym typeface="Bebas Neue"/>
              </a:rPr>
              <a:t>ANÁLISE DE SENSIBILIDADE E CENÁRIOS</a:t>
            </a:r>
            <a:endParaRPr b="1" sz="3600">
              <a:solidFill>
                <a:srgbClr val="EEFF4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grpSp>
        <p:nvGrpSpPr>
          <p:cNvPr id="204" name="Google Shape;204;p22"/>
          <p:cNvGrpSpPr/>
          <p:nvPr/>
        </p:nvGrpSpPr>
        <p:grpSpPr>
          <a:xfrm>
            <a:off x="381000" y="1428750"/>
            <a:ext cx="2571900" cy="2952900"/>
            <a:chOff x="0" y="0"/>
            <a:chExt cx="2571900" cy="2952900"/>
          </a:xfrm>
        </p:grpSpPr>
        <p:sp>
          <p:nvSpPr>
            <p:cNvPr id="205" name="Google Shape;205;p22"/>
            <p:cNvSpPr/>
            <p:nvPr/>
          </p:nvSpPr>
          <p:spPr>
            <a:xfrm>
              <a:off x="0" y="0"/>
              <a:ext cx="2571900" cy="2952900"/>
            </a:xfrm>
            <a:prstGeom prst="rect">
              <a:avLst/>
            </a:prstGeom>
            <a:solidFill>
              <a:srgbClr val="1A1A1A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2"/>
            <p:cNvSpPr/>
            <p:nvPr/>
          </p:nvSpPr>
          <p:spPr>
            <a:xfrm>
              <a:off x="0" y="2905125"/>
              <a:ext cx="2571900" cy="47700"/>
            </a:xfrm>
            <a:prstGeom prst="rect">
              <a:avLst/>
            </a:prstGeom>
            <a:solidFill>
              <a:srgbClr val="EE13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2"/>
            <p:cNvSpPr txBox="1"/>
            <p:nvPr/>
          </p:nvSpPr>
          <p:spPr>
            <a:xfrm>
              <a:off x="190500" y="190500"/>
              <a:ext cx="21909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EE1379"/>
                  </a:solidFill>
                  <a:latin typeface="Inter"/>
                  <a:ea typeface="Inter"/>
                  <a:cs typeface="Inter"/>
                  <a:sym typeface="Inter"/>
                </a:rPr>
                <a:t>PESSIMISTA</a:t>
              </a:r>
              <a:endParaRPr b="1" sz="1400">
                <a:solidFill>
                  <a:srgbClr val="EE137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Adoção Lenta &amp; Ticket Baixo</a:t>
              </a:r>
              <a:endParaRPr b="0" sz="10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€340.200</a:t>
              </a:r>
              <a:endParaRPr b="1" sz="2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Faturação Projetada no Ano 4</a:t>
              </a:r>
              <a:endParaRPr b="0" sz="9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EE137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r>
                <a:rPr b="0" lang="en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Ticket Médio: 100€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EE137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r>
                <a:rPr b="0" lang="en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Vol. Ano 4: 48.600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1200">
                  <a:solidFill>
                    <a:srgbClr val="EE137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event_busy</a:t>
              </a:r>
              <a:r>
                <a:rPr b="0" lang="en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Break-Even: Final Ano 4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8" name="Google Shape;208;p22"/>
          <p:cNvGrpSpPr/>
          <p:nvPr/>
        </p:nvGrpSpPr>
        <p:grpSpPr>
          <a:xfrm>
            <a:off x="3124200" y="1171575"/>
            <a:ext cx="2895600" cy="3352875"/>
            <a:chOff x="0" y="-114300"/>
            <a:chExt cx="2895600" cy="3352875"/>
          </a:xfrm>
        </p:grpSpPr>
        <p:sp>
          <p:nvSpPr>
            <p:cNvPr id="209" name="Google Shape;209;p22"/>
            <p:cNvSpPr/>
            <p:nvPr/>
          </p:nvSpPr>
          <p:spPr>
            <a:xfrm>
              <a:off x="0" y="0"/>
              <a:ext cx="2895600" cy="3238500"/>
            </a:xfrm>
            <a:prstGeom prst="rect">
              <a:avLst/>
            </a:prstGeom>
            <a:solidFill>
              <a:srgbClr val="1A1A1A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0" y="3190875"/>
              <a:ext cx="2895600" cy="47700"/>
            </a:xfrm>
            <a:prstGeom prst="rect">
              <a:avLst/>
            </a:prstGeom>
            <a:solidFill>
              <a:srgbClr val="42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733425" y="-114300"/>
              <a:ext cx="1428900" cy="228600"/>
            </a:xfrm>
            <a:prstGeom prst="roundRect">
              <a:avLst>
                <a:gd fmla="val 50000" name="adj"/>
              </a:avLst>
            </a:prstGeom>
            <a:solidFill>
              <a:srgbClr val="42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2"/>
            <p:cNvSpPr txBox="1"/>
            <p:nvPr/>
          </p:nvSpPr>
          <p:spPr>
            <a:xfrm>
              <a:off x="733425" y="-114300"/>
              <a:ext cx="1428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800">
                  <a:solidFill>
                    <a:srgbClr val="532982"/>
                  </a:solidFill>
                  <a:latin typeface="Inter"/>
                  <a:ea typeface="Inter"/>
                  <a:cs typeface="Inter"/>
                  <a:sym typeface="Inter"/>
                </a:rPr>
                <a:t>REALISTA (IAPMEI)</a:t>
              </a:r>
              <a:endParaRPr b="1" sz="800">
                <a:solidFill>
                  <a:srgbClr val="53298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3" name="Google Shape;213;p22"/>
            <p:cNvSpPr txBox="1"/>
            <p:nvPr/>
          </p:nvSpPr>
          <p:spPr>
            <a:xfrm>
              <a:off x="238125" y="333375"/>
              <a:ext cx="2419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42D2FF"/>
                  </a:solidFill>
                  <a:latin typeface="Inter"/>
                  <a:ea typeface="Inter"/>
                  <a:cs typeface="Inter"/>
                  <a:sym typeface="Inter"/>
                </a:rPr>
                <a:t>BASE / REALISTA</a:t>
              </a:r>
              <a:endParaRPr b="1" sz="1400">
                <a:solidFill>
                  <a:srgbClr val="42D2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Crescimento Médio Projetado</a:t>
              </a:r>
              <a:endParaRPr b="0" sz="10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€850.500</a:t>
              </a:r>
              <a:endParaRPr b="1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Faturação Projetada no Ano 4</a:t>
              </a:r>
              <a:endParaRPr b="0" sz="9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2D2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r>
                <a:rPr b="0" lang="en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Ticket Médio: 150€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2D2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r>
                <a:rPr b="0" lang="en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Vol. Ano 4: 81.000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1200">
                  <a:solidFill>
                    <a:srgbClr val="42D2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</a:t>
              </a:r>
              <a:r>
                <a:rPr b="0" lang="en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Break-Even: Ano 3 (Robusto)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4" name="Google Shape;214;p22"/>
          <p:cNvGrpSpPr/>
          <p:nvPr/>
        </p:nvGrpSpPr>
        <p:grpSpPr>
          <a:xfrm>
            <a:off x="6191250" y="1428750"/>
            <a:ext cx="2571900" cy="2952900"/>
            <a:chOff x="0" y="0"/>
            <a:chExt cx="2571900" cy="2952900"/>
          </a:xfrm>
        </p:grpSpPr>
        <p:sp>
          <p:nvSpPr>
            <p:cNvPr id="215" name="Google Shape;215;p22"/>
            <p:cNvSpPr/>
            <p:nvPr/>
          </p:nvSpPr>
          <p:spPr>
            <a:xfrm>
              <a:off x="0" y="0"/>
              <a:ext cx="2571900" cy="2952900"/>
            </a:xfrm>
            <a:prstGeom prst="rect">
              <a:avLst/>
            </a:prstGeom>
            <a:solidFill>
              <a:srgbClr val="1A1A1A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2"/>
            <p:cNvSpPr/>
            <p:nvPr/>
          </p:nvSpPr>
          <p:spPr>
            <a:xfrm>
              <a:off x="0" y="2905125"/>
              <a:ext cx="2571900" cy="47700"/>
            </a:xfrm>
            <a:prstGeom prst="rect">
              <a:avLst/>
            </a:prstGeom>
            <a:solidFill>
              <a:srgbClr val="FDE61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2"/>
            <p:cNvSpPr txBox="1"/>
            <p:nvPr/>
          </p:nvSpPr>
          <p:spPr>
            <a:xfrm>
              <a:off x="190500" y="190500"/>
              <a:ext cx="21909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DE614"/>
                  </a:solidFill>
                  <a:latin typeface="Inter"/>
                  <a:ea typeface="Inter"/>
                  <a:cs typeface="Inter"/>
                  <a:sym typeface="Inter"/>
                </a:rPr>
                <a:t>OTIMISTA</a:t>
              </a:r>
              <a:endParaRPr b="1" sz="1400">
                <a:solidFill>
                  <a:srgbClr val="FDE61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Hipercrescimento &amp; Viralidade</a:t>
              </a:r>
              <a:endParaRPr b="0" sz="10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€1.360.800</a:t>
              </a:r>
              <a:endParaRPr b="1" sz="2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Faturação Projetada no Ano 4</a:t>
              </a:r>
              <a:endParaRPr b="0" sz="9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FDE61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r>
                <a:rPr b="0" lang="en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Ticket Médio: 180€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FDE61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r>
                <a:rPr b="0" lang="en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Vol. Ano 4: 108.000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1200">
                  <a:solidFill>
                    <a:srgbClr val="FDE61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r>
                <a:rPr b="0" lang="en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Break-Even: Meado Ano 2</a:t>
              </a:r>
              <a:endParaRPr b="0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18" name="Google Shape;218;p22"/>
          <p:cNvPicPr preferRelativeResize="0"/>
          <p:nvPr/>
        </p:nvPicPr>
        <p:blipFill rotWithShape="1">
          <a:blip r:embed="rId3">
            <a:alphaModFix/>
          </a:blip>
          <a:srcRect b="0" l="2963" r="2972" t="0"/>
          <a:stretch/>
        </p:blipFill>
        <p:spPr>
          <a:xfrm>
            <a:off x="8382000" y="452437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0364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23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224" name="Google Shape;224;p23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5" name="Google Shape;225;p23"/>
            <p:cNvSpPr txBox="1"/>
            <p:nvPr/>
          </p:nvSpPr>
          <p:spPr>
            <a:xfrm>
              <a:off x="381000" y="48577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RubikMe Pitch Deck</a:t>
              </a:r>
              <a:endParaRPr/>
            </a:p>
          </p:txBody>
        </p:sp>
        <p:sp>
          <p:nvSpPr>
            <p:cNvPr id="226" name="Google Shape;226;p23"/>
            <p:cNvSpPr txBox="1"/>
            <p:nvPr/>
          </p:nvSpPr>
          <p:spPr>
            <a:xfrm>
              <a:off x="6858000" y="48577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2026-06-17</a:t>
              </a:r>
              <a:endParaRPr/>
            </a:p>
          </p:txBody>
        </p:sp>
      </p:grpSp>
      <p:grpSp>
        <p:nvGrpSpPr>
          <p:cNvPr id="227" name="Google Shape;227;p23"/>
          <p:cNvGrpSpPr/>
          <p:nvPr/>
        </p:nvGrpSpPr>
        <p:grpSpPr>
          <a:xfrm>
            <a:off x="381000" y="239523"/>
            <a:ext cx="8382000" cy="4152047"/>
            <a:chOff x="381000" y="266349"/>
            <a:chExt cx="8382000" cy="3924801"/>
          </a:xfrm>
        </p:grpSpPr>
        <p:sp>
          <p:nvSpPr>
            <p:cNvPr id="228" name="Google Shape;228;p23"/>
            <p:cNvSpPr txBox="1"/>
            <p:nvPr/>
          </p:nvSpPr>
          <p:spPr>
            <a:xfrm>
              <a:off x="381000" y="266349"/>
              <a:ext cx="83820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EEFF4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BACKEND EM TESTES</a:t>
              </a:r>
              <a:endParaRPr b="1" sz="3600">
                <a:solidFill>
                  <a:srgbClr val="EEFF4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A infraestrutura tecnológica fundamental do RubikMe já está operacional e em fase de testes reais.</a:t>
              </a:r>
              <a:endParaRPr b="0" sz="12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29" name="Google Shape;229;p23"/>
            <p:cNvGrpSpPr/>
            <p:nvPr/>
          </p:nvGrpSpPr>
          <p:grpSpPr>
            <a:xfrm>
              <a:off x="381000" y="1524000"/>
              <a:ext cx="8382000" cy="2667150"/>
              <a:chOff x="0" y="0"/>
              <a:chExt cx="8382000" cy="2667150"/>
            </a:xfrm>
          </p:grpSpPr>
          <p:grpSp>
            <p:nvGrpSpPr>
              <p:cNvPr id="230" name="Google Shape;230;p23"/>
              <p:cNvGrpSpPr/>
              <p:nvPr/>
            </p:nvGrpSpPr>
            <p:grpSpPr>
              <a:xfrm>
                <a:off x="0" y="0"/>
                <a:ext cx="3810000" cy="1238400"/>
                <a:chOff x="0" y="0"/>
                <a:chExt cx="3810000" cy="1238400"/>
              </a:xfrm>
            </p:grpSpPr>
            <p:sp>
              <p:nvSpPr>
                <p:cNvPr id="231" name="Google Shape;231;p23"/>
                <p:cNvSpPr/>
                <p:nvPr/>
              </p:nvSpPr>
              <p:spPr>
                <a:xfrm>
                  <a:off x="0" y="0"/>
                  <a:ext cx="3810000" cy="1238400"/>
                </a:xfrm>
                <a:prstGeom prst="roundRect">
                  <a:avLst>
                    <a:gd fmla="val 0" name="adj"/>
                  </a:avLst>
                </a:prstGeom>
                <a:solidFill>
                  <a:srgbClr val="1A1A1A"/>
                </a:solidFill>
                <a:ln cap="flat" cmpd="sng" w="9525">
                  <a:solidFill>
                    <a:srgbClr val="33333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2" name="Google Shape;232;p23"/>
                <p:cNvSpPr txBox="1"/>
                <p:nvPr/>
              </p:nvSpPr>
              <p:spPr>
                <a:xfrm>
                  <a:off x="190500" y="190500"/>
                  <a:ext cx="34290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200">
                      <a:solidFill>
                        <a:srgbClr val="00B47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Estado de Desenvolvimento</a:t>
                  </a:r>
                  <a:endParaRPr b="1" sz="1200">
                    <a:solidFill>
                      <a:srgbClr val="00B47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b="0" lang="en" sz="1050">
                      <a:solidFill>
                        <a:srgbClr val="A3A3A3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Possuímos uma API REST estruturada e o motor de correspondência em implementação ativa.</a:t>
                  </a:r>
                  <a:endParaRPr b="0" sz="1050">
                    <a:solidFill>
                      <a:srgbClr val="A3A3A3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33" name="Google Shape;233;p23"/>
              <p:cNvGrpSpPr/>
              <p:nvPr/>
            </p:nvGrpSpPr>
            <p:grpSpPr>
              <a:xfrm>
                <a:off x="0" y="1428750"/>
                <a:ext cx="3810000" cy="1238400"/>
                <a:chOff x="0" y="0"/>
                <a:chExt cx="3810000" cy="1238400"/>
              </a:xfrm>
            </p:grpSpPr>
            <p:sp>
              <p:nvSpPr>
                <p:cNvPr id="234" name="Google Shape;234;p23"/>
                <p:cNvSpPr/>
                <p:nvPr/>
              </p:nvSpPr>
              <p:spPr>
                <a:xfrm>
                  <a:off x="0" y="0"/>
                  <a:ext cx="3810000" cy="1238400"/>
                </a:xfrm>
                <a:prstGeom prst="roundRect">
                  <a:avLst>
                    <a:gd fmla="val 0" name="adj"/>
                  </a:avLst>
                </a:prstGeom>
                <a:solidFill>
                  <a:srgbClr val="1A1A1A"/>
                </a:solidFill>
                <a:ln cap="flat" cmpd="sng" w="9525">
                  <a:solidFill>
                    <a:srgbClr val="33333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" name="Google Shape;235;p23"/>
                <p:cNvSpPr txBox="1"/>
                <p:nvPr/>
              </p:nvSpPr>
              <p:spPr>
                <a:xfrm>
                  <a:off x="190500" y="190500"/>
                  <a:ext cx="34290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200">
                      <a:solidFill>
                        <a:srgbClr val="00B47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Modelos de Dados Críticos</a:t>
                  </a:r>
                  <a:endParaRPr b="1" sz="1200">
                    <a:solidFill>
                      <a:srgbClr val="00B47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b="0" lang="en" sz="1050">
                      <a:solidFill>
                        <a:srgbClr val="A3A3A3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Suporte para Utilizador, Item, Demanda e Círculo de Troca, garantindo total escalabilidade.</a:t>
                  </a:r>
                  <a:endParaRPr b="0" sz="1050">
                    <a:solidFill>
                      <a:srgbClr val="A3A3A3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36" name="Google Shape;236;p23"/>
              <p:cNvGrpSpPr/>
              <p:nvPr/>
            </p:nvGrpSpPr>
            <p:grpSpPr>
              <a:xfrm>
                <a:off x="4191000" y="0"/>
                <a:ext cx="4191000" cy="2667000"/>
                <a:chOff x="0" y="0"/>
                <a:chExt cx="4191000" cy="2667000"/>
              </a:xfrm>
            </p:grpSpPr>
            <p:sp>
              <p:nvSpPr>
                <p:cNvPr id="237" name="Google Shape;237;p23"/>
                <p:cNvSpPr/>
                <p:nvPr/>
              </p:nvSpPr>
              <p:spPr>
                <a:xfrm>
                  <a:off x="0" y="0"/>
                  <a:ext cx="4191000" cy="2667000"/>
                </a:xfrm>
                <a:prstGeom prst="roundRect">
                  <a:avLst>
                    <a:gd fmla="val 0" name="adj"/>
                  </a:avLst>
                </a:prstGeom>
                <a:solidFill>
                  <a:srgbClr val="EE1379"/>
                </a:solidFill>
                <a:ln cap="flat" cmpd="sng" w="38100">
                  <a:solidFill>
                    <a:srgbClr val="FFFF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" name="Google Shape;238;p23"/>
                <p:cNvSpPr txBox="1"/>
                <p:nvPr/>
              </p:nvSpPr>
              <p:spPr>
                <a:xfrm>
                  <a:off x="190500" y="190500"/>
                  <a:ext cx="3810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2400">
                      <a:solidFill>
                        <a:srgbClr val="EEFF41"/>
                      </a:solidFill>
                      <a:latin typeface="Bebas Neue"/>
                      <a:ea typeface="Bebas Neue"/>
                      <a:cs typeface="Bebas Neue"/>
                      <a:sym typeface="Bebas Neue"/>
                    </a:rPr>
                    <a:t>Stack Tecnológica</a:t>
                  </a:r>
                  <a:endParaRPr b="1" sz="2400">
                    <a:solidFill>
                      <a:srgbClr val="EEFF41"/>
                    </a:solidFill>
                    <a:latin typeface="Bebas Neue"/>
                    <a:ea typeface="Bebas Neue"/>
                    <a:cs typeface="Bebas Neue"/>
                    <a:sym typeface="Bebas Neue"/>
                  </a:endParaRPr>
                </a:p>
              </p:txBody>
            </p:sp>
            <p:grpSp>
              <p:nvGrpSpPr>
                <p:cNvPr id="239" name="Google Shape;239;p23"/>
                <p:cNvGrpSpPr/>
                <p:nvPr/>
              </p:nvGrpSpPr>
              <p:grpSpPr>
                <a:xfrm>
                  <a:off x="285750" y="571500"/>
                  <a:ext cx="3524250" cy="1428900"/>
                  <a:chOff x="0" y="-95250"/>
                  <a:chExt cx="3524250" cy="1428900"/>
                </a:xfrm>
              </p:grpSpPr>
              <p:pic>
                <p:nvPicPr>
                  <p:cNvPr id="240" name="Google Shape;240;p2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32000" l="0" r="0" t="32000"/>
                  <a:stretch/>
                </p:blipFill>
                <p:spPr>
                  <a:xfrm>
                    <a:off x="0" y="0"/>
                    <a:ext cx="952500" cy="3429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41" name="Google Shape;241;p23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1333500" y="-95250"/>
                    <a:ext cx="571500" cy="571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42" name="Google Shape;242;p23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31252" l="0" r="0" t="31248"/>
                  <a:stretch/>
                </p:blipFill>
                <p:spPr>
                  <a:xfrm>
                    <a:off x="2381250" y="0"/>
                    <a:ext cx="1143000" cy="42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43" name="Google Shape;243;p23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31252" l="0" r="0" t="31248"/>
                  <a:stretch/>
                </p:blipFill>
                <p:spPr>
                  <a:xfrm>
                    <a:off x="0" y="762000"/>
                    <a:ext cx="1143000" cy="42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44" name="Google Shape;244;p23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1381125" y="666750"/>
                    <a:ext cx="666900" cy="6669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</p:grpSp>
      <p:pic>
        <p:nvPicPr>
          <p:cNvPr id="245" name="Google Shape;24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04479" y="4524451"/>
            <a:ext cx="445800" cy="4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0364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24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251" name="Google Shape;251;p24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2" name="Google Shape;252;p24"/>
            <p:cNvSpPr txBox="1"/>
            <p:nvPr/>
          </p:nvSpPr>
          <p:spPr>
            <a:xfrm>
              <a:off x="381000" y="48577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RubikMe Pitch Deck</a:t>
              </a:r>
              <a:endParaRPr/>
            </a:p>
          </p:txBody>
        </p:sp>
        <p:sp>
          <p:nvSpPr>
            <p:cNvPr id="253" name="Google Shape;253;p24"/>
            <p:cNvSpPr txBox="1"/>
            <p:nvPr/>
          </p:nvSpPr>
          <p:spPr>
            <a:xfrm>
              <a:off x="6858000" y="48577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2026-06-17</a:t>
              </a:r>
              <a:endParaRPr/>
            </a:p>
          </p:txBody>
        </p:sp>
      </p:grpSp>
      <p:sp>
        <p:nvSpPr>
          <p:cNvPr id="254" name="Google Shape;254;p24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EFF41"/>
                </a:solidFill>
                <a:latin typeface="Bebas Neue"/>
                <a:ea typeface="Bebas Neue"/>
                <a:cs typeface="Bebas Neue"/>
                <a:sym typeface="Bebas Neue"/>
              </a:rPr>
              <a:t>CONCORRENTES E SEUS PROBLEMAS</a:t>
            </a:r>
            <a:endParaRPr b="1" sz="3200">
              <a:solidFill>
                <a:srgbClr val="EEFF4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381000" y="9525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O ecossistema de transações de segunda mão é dominado por grandes players que dependem exclusivamente de liquidez financeira ou trocas diretas ineficientes.</a:t>
            </a:r>
            <a:endParaRPr b="0" sz="130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6" name="Google Shape;256;p24"/>
          <p:cNvGrpSpPr/>
          <p:nvPr/>
        </p:nvGrpSpPr>
        <p:grpSpPr>
          <a:xfrm>
            <a:off x="381000" y="1714500"/>
            <a:ext cx="8382000" cy="2952825"/>
            <a:chOff x="0" y="0"/>
            <a:chExt cx="8382000" cy="2952825"/>
          </a:xfrm>
        </p:grpSpPr>
        <p:grpSp>
          <p:nvGrpSpPr>
            <p:cNvPr id="257" name="Google Shape;257;p24"/>
            <p:cNvGrpSpPr/>
            <p:nvPr/>
          </p:nvGrpSpPr>
          <p:grpSpPr>
            <a:xfrm>
              <a:off x="0" y="0"/>
              <a:ext cx="8382000" cy="285900"/>
              <a:chOff x="0" y="0"/>
              <a:chExt cx="8382000" cy="285900"/>
            </a:xfrm>
          </p:grpSpPr>
          <p:sp>
            <p:nvSpPr>
              <p:cNvPr id="258" name="Google Shape;258;p24"/>
              <p:cNvSpPr txBox="1"/>
              <p:nvPr/>
            </p:nvSpPr>
            <p:spPr>
              <a:xfrm>
                <a:off x="0" y="0"/>
                <a:ext cx="2095500" cy="28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0B47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DIMENSÃO</a:t>
                </a:r>
                <a:endParaRPr b="0" sz="900">
                  <a:solidFill>
                    <a:srgbClr val="00B47D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59" name="Google Shape;259;p24"/>
              <p:cNvSpPr txBox="1"/>
              <p:nvPr/>
            </p:nvSpPr>
            <p:spPr>
              <a:xfrm>
                <a:off x="2286000" y="0"/>
                <a:ext cx="2857500" cy="28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EE137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CONCORRENTES TRADICIONAIS</a:t>
                </a:r>
                <a:endParaRPr b="0" sz="900">
                  <a:solidFill>
                    <a:srgbClr val="EE137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60" name="Google Shape;260;p24"/>
              <p:cNvSpPr txBox="1"/>
              <p:nvPr/>
            </p:nvSpPr>
            <p:spPr>
              <a:xfrm>
                <a:off x="5334000" y="0"/>
                <a:ext cx="3048000" cy="28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EEFF41"/>
                    </a:solidFill>
                    <a:latin typeface="Inter"/>
                    <a:ea typeface="Inter"/>
                    <a:cs typeface="Inter"/>
                    <a:sym typeface="Inter"/>
                  </a:rPr>
                  <a:t>RUBIKME</a:t>
                </a:r>
                <a:endParaRPr b="1" sz="1000">
                  <a:solidFill>
                    <a:srgbClr val="EEFF4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61" name="Google Shape;261;p24"/>
            <p:cNvGrpSpPr/>
            <p:nvPr/>
          </p:nvGrpSpPr>
          <p:grpSpPr>
            <a:xfrm>
              <a:off x="0" y="333375"/>
              <a:ext cx="8382000" cy="666900"/>
              <a:chOff x="0" y="0"/>
              <a:chExt cx="8382000" cy="666900"/>
            </a:xfrm>
          </p:grpSpPr>
          <p:sp>
            <p:nvSpPr>
              <p:cNvPr id="262" name="Google Shape;262;p24"/>
              <p:cNvSpPr/>
              <p:nvPr/>
            </p:nvSpPr>
            <p:spPr>
              <a:xfrm>
                <a:off x="0" y="0"/>
                <a:ext cx="8382000" cy="666900"/>
              </a:xfrm>
              <a:prstGeom prst="roundRect">
                <a:avLst>
                  <a:gd fmla="val 0" name="adj"/>
                </a:avLst>
              </a:prstGeom>
              <a:solidFill>
                <a:srgbClr val="EE1379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4"/>
              <p:cNvSpPr txBox="1"/>
              <p:nvPr/>
            </p:nvSpPr>
            <p:spPr>
              <a:xfrm>
                <a:off x="190500" y="0"/>
                <a:ext cx="1905000" cy="619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EE1379"/>
                    </a:solidFill>
                    <a:latin typeface="Inter"/>
                    <a:ea typeface="Inter"/>
                    <a:cs typeface="Inter"/>
                    <a:sym typeface="Inter"/>
                  </a:rPr>
                  <a:t>Modelo de Troca</a:t>
                </a:r>
                <a:endParaRPr b="1" sz="1100">
                  <a:solidFill>
                    <a:srgbClr val="EE137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4" name="Google Shape;264;p24"/>
              <p:cNvSpPr txBox="1"/>
              <p:nvPr/>
            </p:nvSpPr>
            <p:spPr>
              <a:xfrm>
                <a:off x="2286000" y="0"/>
                <a:ext cx="2857500" cy="619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F5F5F5"/>
                    </a:solidFill>
                    <a:latin typeface="Inter"/>
                    <a:ea typeface="Inter"/>
                    <a:cs typeface="Inter"/>
                    <a:sym typeface="Inter"/>
                  </a:rPr>
                  <a:t>Compra/Venda ou Troca Direta (OLX, Vinted, Enjoei, CraigsList).</a:t>
                </a:r>
                <a:endParaRPr b="0" sz="105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" name="Google Shape;265;p24"/>
              <p:cNvSpPr/>
              <p:nvPr/>
            </p:nvSpPr>
            <p:spPr>
              <a:xfrm>
                <a:off x="5334000" y="47625"/>
                <a:ext cx="3048000" cy="571500"/>
              </a:xfrm>
              <a:prstGeom prst="roundRect">
                <a:avLst>
                  <a:gd fmla="val 0" name="adj"/>
                </a:avLst>
              </a:prstGeom>
              <a:solidFill>
                <a:srgbClr val="EE137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24"/>
              <p:cNvSpPr txBox="1"/>
              <p:nvPr/>
            </p:nvSpPr>
            <p:spPr>
              <a:xfrm>
                <a:off x="5476875" y="47625"/>
                <a:ext cx="2762400" cy="523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3D0364"/>
                    </a:solidFill>
                    <a:latin typeface="Inter"/>
                    <a:ea typeface="Inter"/>
                    <a:cs typeface="Inter"/>
                    <a:sym typeface="Inter"/>
                  </a:rPr>
                  <a:t>Troca Multilateral Automática (Liquidez Infinita).</a:t>
                </a:r>
                <a:endParaRPr b="1" sz="1050">
                  <a:solidFill>
                    <a:srgbClr val="3D036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67" name="Google Shape;267;p24"/>
            <p:cNvGrpSpPr/>
            <p:nvPr/>
          </p:nvGrpSpPr>
          <p:grpSpPr>
            <a:xfrm>
              <a:off x="0" y="1000125"/>
              <a:ext cx="8382000" cy="666900"/>
              <a:chOff x="0" y="0"/>
              <a:chExt cx="8382000" cy="666900"/>
            </a:xfrm>
          </p:grpSpPr>
          <p:sp>
            <p:nvSpPr>
              <p:cNvPr id="268" name="Google Shape;268;p24"/>
              <p:cNvSpPr/>
              <p:nvPr/>
            </p:nvSpPr>
            <p:spPr>
              <a:xfrm>
                <a:off x="0" y="0"/>
                <a:ext cx="8382000" cy="666900"/>
              </a:xfrm>
              <a:prstGeom prst="roundRect">
                <a:avLst>
                  <a:gd fmla="val 0" name="adj"/>
                </a:avLst>
              </a:prstGeom>
              <a:solidFill>
                <a:srgbClr val="EEFF41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4"/>
              <p:cNvSpPr txBox="1"/>
              <p:nvPr/>
            </p:nvSpPr>
            <p:spPr>
              <a:xfrm>
                <a:off x="190500" y="0"/>
                <a:ext cx="1905000" cy="619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EEFF41"/>
                    </a:solidFill>
                    <a:latin typeface="Inter"/>
                    <a:ea typeface="Inter"/>
                    <a:cs typeface="Inter"/>
                    <a:sym typeface="Inter"/>
                  </a:rPr>
                  <a:t>Problema de Liquidez</a:t>
                </a:r>
                <a:endParaRPr b="1" sz="1100">
                  <a:solidFill>
                    <a:srgbClr val="EEFF4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0" name="Google Shape;270;p24"/>
              <p:cNvSpPr txBox="1"/>
              <p:nvPr/>
            </p:nvSpPr>
            <p:spPr>
              <a:xfrm>
                <a:off x="2286000" y="0"/>
                <a:ext cx="2857500" cy="619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F5F5F5"/>
                    </a:solidFill>
                    <a:latin typeface="Inter"/>
                    <a:ea typeface="Inter"/>
                    <a:cs typeface="Inter"/>
                    <a:sym typeface="Inter"/>
                  </a:rPr>
                  <a:t>Itens ficam parados sem comprador direto ou capital disponível.</a:t>
                </a:r>
                <a:endParaRPr b="0" sz="105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1" name="Google Shape;271;p24"/>
              <p:cNvSpPr/>
              <p:nvPr/>
            </p:nvSpPr>
            <p:spPr>
              <a:xfrm>
                <a:off x="5334000" y="47625"/>
                <a:ext cx="3048000" cy="571500"/>
              </a:xfrm>
              <a:prstGeom prst="roundRect">
                <a:avLst>
                  <a:gd fmla="val 0" name="adj"/>
                </a:avLst>
              </a:prstGeom>
              <a:solidFill>
                <a:srgbClr val="EEFF4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4"/>
              <p:cNvSpPr txBox="1"/>
              <p:nvPr/>
            </p:nvSpPr>
            <p:spPr>
              <a:xfrm>
                <a:off x="5476875" y="47625"/>
                <a:ext cx="2762400" cy="523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3D0364"/>
                    </a:solidFill>
                    <a:latin typeface="Inter"/>
                    <a:ea typeface="Inter"/>
                    <a:cs typeface="Inter"/>
                    <a:sym typeface="Inter"/>
                  </a:rPr>
                  <a:t>Algoritmo resolve bloqueios de transação onde outros falham.</a:t>
                </a:r>
                <a:endParaRPr b="1" sz="1050">
                  <a:solidFill>
                    <a:srgbClr val="3D036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73" name="Google Shape;273;p24"/>
            <p:cNvGrpSpPr/>
            <p:nvPr/>
          </p:nvGrpSpPr>
          <p:grpSpPr>
            <a:xfrm>
              <a:off x="0" y="1666875"/>
              <a:ext cx="8382000" cy="666900"/>
              <a:chOff x="0" y="0"/>
              <a:chExt cx="8382000" cy="666900"/>
            </a:xfrm>
          </p:grpSpPr>
          <p:sp>
            <p:nvSpPr>
              <p:cNvPr id="274" name="Google Shape;274;p24"/>
              <p:cNvSpPr/>
              <p:nvPr/>
            </p:nvSpPr>
            <p:spPr>
              <a:xfrm>
                <a:off x="0" y="0"/>
                <a:ext cx="8382000" cy="666900"/>
              </a:xfrm>
              <a:prstGeom prst="roundRect">
                <a:avLst>
                  <a:gd fmla="val 0" name="adj"/>
                </a:avLst>
              </a:prstGeom>
              <a:solidFill>
                <a:srgbClr val="00B47D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4"/>
              <p:cNvSpPr txBox="1"/>
              <p:nvPr/>
            </p:nvSpPr>
            <p:spPr>
              <a:xfrm>
                <a:off x="190500" y="0"/>
                <a:ext cx="1905000" cy="619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B47D"/>
                    </a:solidFill>
                    <a:latin typeface="Inter"/>
                    <a:ea typeface="Inter"/>
                    <a:cs typeface="Inter"/>
                    <a:sym typeface="Inter"/>
                  </a:rPr>
                  <a:t>Ativo Tecnológico</a:t>
                </a:r>
                <a:endParaRPr b="1" sz="1100">
                  <a:solidFill>
                    <a:srgbClr val="00B47D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6" name="Google Shape;276;p24"/>
              <p:cNvSpPr txBox="1"/>
              <p:nvPr/>
            </p:nvSpPr>
            <p:spPr>
              <a:xfrm>
                <a:off x="2286000" y="0"/>
                <a:ext cx="2857500" cy="619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F5F5F5"/>
                    </a:solidFill>
                    <a:latin typeface="Inter"/>
                    <a:ea typeface="Inter"/>
                    <a:cs typeface="Inter"/>
                    <a:sym typeface="Inter"/>
                  </a:rPr>
                  <a:t>Marketplace standard com foco em volume de listagens.</a:t>
                </a:r>
                <a:endParaRPr b="0" sz="105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7" name="Google Shape;277;p24"/>
              <p:cNvSpPr/>
              <p:nvPr/>
            </p:nvSpPr>
            <p:spPr>
              <a:xfrm>
                <a:off x="5334000" y="47625"/>
                <a:ext cx="3048000" cy="571500"/>
              </a:xfrm>
              <a:prstGeom prst="roundRect">
                <a:avLst>
                  <a:gd fmla="val 0" name="adj"/>
                </a:avLst>
              </a:prstGeom>
              <a:solidFill>
                <a:srgbClr val="00B4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24"/>
              <p:cNvSpPr txBox="1"/>
              <p:nvPr/>
            </p:nvSpPr>
            <p:spPr>
              <a:xfrm>
                <a:off x="5476875" y="47625"/>
                <a:ext cx="2762400" cy="523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3D0364"/>
                    </a:solidFill>
                    <a:latin typeface="Inter"/>
                    <a:ea typeface="Inter"/>
                    <a:cs typeface="Inter"/>
                    <a:sym typeface="Inter"/>
                  </a:rPr>
                  <a:t>Deteção de Ciclos em Grafos (Potencial Patenteável).</a:t>
                </a:r>
                <a:endParaRPr b="1" sz="1050">
                  <a:solidFill>
                    <a:srgbClr val="3D036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79" name="Google Shape;279;p24"/>
            <p:cNvGrpSpPr/>
            <p:nvPr/>
          </p:nvGrpSpPr>
          <p:grpSpPr>
            <a:xfrm>
              <a:off x="0" y="2333625"/>
              <a:ext cx="8382000" cy="619200"/>
              <a:chOff x="0" y="0"/>
              <a:chExt cx="8382000" cy="619200"/>
            </a:xfrm>
          </p:grpSpPr>
          <p:sp>
            <p:nvSpPr>
              <p:cNvPr id="280" name="Google Shape;280;p24"/>
              <p:cNvSpPr/>
              <p:nvPr/>
            </p:nvSpPr>
            <p:spPr>
              <a:xfrm>
                <a:off x="0" y="0"/>
                <a:ext cx="8382000" cy="619200"/>
              </a:xfrm>
              <a:prstGeom prst="rect">
                <a:avLst/>
              </a:prstGeom>
              <a:solidFill>
                <a:srgbClr val="FFFFFF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24"/>
              <p:cNvSpPr/>
              <p:nvPr/>
            </p:nvSpPr>
            <p:spPr>
              <a:xfrm>
                <a:off x="190500" y="0"/>
                <a:ext cx="1905000" cy="619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Segurança e Confiança</a:t>
                </a:r>
                <a:endParaRPr b="1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2" name="Google Shape;282;p24"/>
              <p:cNvSpPr/>
              <p:nvPr/>
            </p:nvSpPr>
            <p:spPr>
              <a:xfrm>
                <a:off x="2286000" y="0"/>
                <a:ext cx="2857500" cy="619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F5F5F5"/>
                    </a:solidFill>
                    <a:latin typeface="Inter"/>
                    <a:ea typeface="Inter"/>
                    <a:cs typeface="Inter"/>
                    <a:sym typeface="Inter"/>
                  </a:rPr>
                  <a:t>Suscetível a burlas e validação básica</a:t>
                </a:r>
                <a:endParaRPr b="0" sz="105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3" name="Google Shape;283;p24"/>
              <p:cNvSpPr/>
              <p:nvPr/>
            </p:nvSpPr>
            <p:spPr>
              <a:xfrm>
                <a:off x="5334000" y="47625"/>
                <a:ext cx="3048000" cy="523800"/>
              </a:xfrm>
              <a:prstGeom prst="rect">
                <a:avLst/>
              </a:prstGeom>
              <a:solidFill>
                <a:srgbClr val="2A024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4"/>
              <p:cNvSpPr/>
              <p:nvPr/>
            </p:nvSpPr>
            <p:spPr>
              <a:xfrm>
                <a:off x="5476875" y="47625"/>
                <a:ext cx="2762400" cy="523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EEFF41"/>
                    </a:solidFill>
                    <a:latin typeface="Inter"/>
                    <a:ea typeface="Inter"/>
                    <a:cs typeface="Inter"/>
                    <a:sym typeface="Inter"/>
                  </a:rPr>
                  <a:t>KYC (ID + Face), Seguro Obrigatório e Fundo Anti-Extravio</a:t>
                </a:r>
                <a:endParaRPr b="1" sz="1050">
                  <a:solidFill>
                    <a:srgbClr val="EEFF4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85" name="Google Shape;285;p24"/>
          <p:cNvGrpSpPr/>
          <p:nvPr/>
        </p:nvGrpSpPr>
        <p:grpSpPr>
          <a:xfrm>
            <a:off x="381000" y="4667250"/>
            <a:ext cx="8382000" cy="381000"/>
            <a:chOff x="0" y="0"/>
            <a:chExt cx="8382000" cy="381000"/>
          </a:xfrm>
        </p:grpSpPr>
        <p:sp>
          <p:nvSpPr>
            <p:cNvPr id="286" name="Google Shape;286;p24"/>
            <p:cNvSpPr/>
            <p:nvPr/>
          </p:nvSpPr>
          <p:spPr>
            <a:xfrm>
              <a:off x="0" y="0"/>
              <a:ext cx="8382000" cy="381000"/>
            </a:xfrm>
            <a:prstGeom prst="roundRect">
              <a:avLst>
                <a:gd fmla="val 50000" name="adj"/>
              </a:avLst>
            </a:prstGeom>
            <a:solidFill>
              <a:srgbClr val="00B47D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4"/>
            <p:cNvSpPr txBox="1"/>
            <p:nvPr/>
          </p:nvSpPr>
          <p:spPr>
            <a:xfrm>
              <a:off x="190500" y="0"/>
              <a:ext cx="80010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B47D"/>
                  </a:solidFill>
                  <a:latin typeface="Inter"/>
                  <a:ea typeface="Inter"/>
                  <a:cs typeface="Inter"/>
                  <a:sym typeface="Inter"/>
                </a:rPr>
                <a:t>Barreira de Entrada:</a:t>
              </a:r>
              <a:r>
                <a:rPr b="0" lang="en" sz="95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 Ativo tecnológico complexo protegendo a nossa inovação no mercado global.</a:t>
              </a:r>
              <a:endParaRPr b="1" sz="950">
                <a:solidFill>
                  <a:srgbClr val="00B47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88" name="Google Shape;288;p24"/>
          <p:cNvPicPr preferRelativeResize="0"/>
          <p:nvPr/>
        </p:nvPicPr>
        <p:blipFill rotWithShape="1">
          <a:blip r:embed="rId3">
            <a:alphaModFix/>
          </a:blip>
          <a:srcRect b="0" l="2963" r="2972" t="0"/>
          <a:stretch/>
        </p:blipFill>
        <p:spPr>
          <a:xfrm>
            <a:off x="8382000" y="452437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25"/>
          <p:cNvGrpSpPr/>
          <p:nvPr/>
        </p:nvGrpSpPr>
        <p:grpSpPr>
          <a:xfrm>
            <a:off x="428575" y="4532700"/>
            <a:ext cx="8382000" cy="523875"/>
            <a:chOff x="381000" y="4524375"/>
            <a:chExt cx="8382000" cy="523875"/>
          </a:xfrm>
        </p:grpSpPr>
        <p:cxnSp>
          <p:nvCxnSpPr>
            <p:cNvPr id="293" name="Google Shape;293;p25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4" name="Google Shape;294;p25"/>
            <p:cNvSpPr txBox="1"/>
            <p:nvPr/>
          </p:nvSpPr>
          <p:spPr>
            <a:xfrm>
              <a:off x="381000" y="48577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RubikMe Pitch Deck</a:t>
              </a:r>
              <a:endParaRPr sz="7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5" name="Google Shape;295;p25"/>
            <p:cNvSpPr txBox="1"/>
            <p:nvPr/>
          </p:nvSpPr>
          <p:spPr>
            <a:xfrm>
              <a:off x="6858000" y="48577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2026-06-18</a:t>
              </a:r>
              <a:endParaRPr sz="7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96" name="Google Shape;296;p25"/>
            <p:cNvPicPr preferRelativeResize="0"/>
            <p:nvPr/>
          </p:nvPicPr>
          <p:blipFill rotWithShape="1">
            <a:blip r:embed="rId4">
              <a:alphaModFix/>
            </a:blip>
            <a:srcRect b="0" l="2963" r="2972" t="0"/>
            <a:stretch/>
          </p:blipFill>
          <p:spPr>
            <a:xfrm>
              <a:off x="8382000" y="45243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7" name="Google Shape;297;p25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EEFF41"/>
                </a:solidFill>
                <a:latin typeface="Bebas Neue"/>
                <a:ea typeface="Bebas Neue"/>
                <a:cs typeface="Bebas Neue"/>
                <a:sym typeface="Bebas Neue"/>
              </a:rPr>
              <a:t>Investimento e Projeção Financeira</a:t>
            </a:r>
            <a:endParaRPr b="1" sz="2700">
              <a:solidFill>
                <a:srgbClr val="EEFF4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609600" y="1562100"/>
            <a:ext cx="22098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Objetivos de Investimento</a:t>
            </a:r>
            <a:endParaRPr b="1" sz="140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r>
              <a:rPr lang="en" sz="105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r>
              <a:rPr b="0" lang="en" sz="105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.000 para 12 meses de Runway</a:t>
            </a:r>
            <a:endParaRPr b="0" sz="1050">
              <a:solidFill>
                <a:srgbClr val="A3A3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1200"/>
              </a:spcBef>
              <a:spcAft>
                <a:spcPts val="0"/>
              </a:spcAft>
              <a:buClr>
                <a:srgbClr val="F5F5F5"/>
              </a:buClr>
              <a:buSzPts val="1050"/>
              <a:buFont typeface="Inter"/>
              <a:buChar char="●"/>
            </a:pPr>
            <a:r>
              <a:rPr b="0" lang="en" sz="105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Equipa e Desenv.: 48%</a:t>
            </a:r>
            <a:endParaRPr b="0" sz="105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800"/>
              </a:spcBef>
              <a:spcAft>
                <a:spcPts val="0"/>
              </a:spcAft>
              <a:buClr>
                <a:srgbClr val="F5F5F5"/>
              </a:buClr>
              <a:buSzPts val="1050"/>
              <a:buFont typeface="Inter"/>
              <a:buChar char="●"/>
            </a:pPr>
            <a:r>
              <a:rPr b="0" lang="en" sz="105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Go-to-Market: 20%</a:t>
            </a:r>
            <a:endParaRPr b="0" sz="105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800"/>
              </a:spcBef>
              <a:spcAft>
                <a:spcPts val="0"/>
              </a:spcAft>
              <a:buClr>
                <a:srgbClr val="F5F5F5"/>
              </a:buClr>
              <a:buSzPts val="1050"/>
              <a:buFont typeface="Inter"/>
              <a:buChar char="●"/>
            </a:pPr>
            <a:r>
              <a:rPr b="0" lang="en" sz="105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Ops e Seguros: 14%</a:t>
            </a:r>
            <a:endParaRPr b="0" sz="105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800"/>
              </a:spcBef>
              <a:spcAft>
                <a:spcPts val="0"/>
              </a:spcAft>
              <a:buClr>
                <a:srgbClr val="F5F5F5"/>
              </a:buClr>
              <a:buSzPts val="1050"/>
              <a:buFont typeface="Inter"/>
              <a:buChar char="●"/>
            </a:pPr>
            <a:r>
              <a:rPr b="0" lang="en" sz="105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Legal e Compliance: 10%</a:t>
            </a:r>
            <a:endParaRPr b="0" sz="105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800"/>
              </a:spcBef>
              <a:spcAft>
                <a:spcPts val="0"/>
              </a:spcAft>
              <a:buClr>
                <a:srgbClr val="F5F5F5"/>
              </a:buClr>
              <a:buSzPts val="1050"/>
              <a:buFont typeface="Inter"/>
              <a:buChar char="●"/>
            </a:pPr>
            <a:r>
              <a:rPr b="0" lang="en" sz="105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Tech e Infra: 8%</a:t>
            </a:r>
            <a:endParaRPr b="0" sz="105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99" name="Google Shape;299;p25"/>
          <p:cNvGrpSpPr/>
          <p:nvPr/>
        </p:nvGrpSpPr>
        <p:grpSpPr>
          <a:xfrm>
            <a:off x="6477000" y="3157338"/>
            <a:ext cx="2047875" cy="976513"/>
            <a:chOff x="0" y="-81162"/>
            <a:chExt cx="2047875" cy="976513"/>
          </a:xfrm>
        </p:grpSpPr>
        <p:sp>
          <p:nvSpPr>
            <p:cNvPr id="300" name="Google Shape;300;p25"/>
            <p:cNvSpPr/>
            <p:nvPr/>
          </p:nvSpPr>
          <p:spPr>
            <a:xfrm>
              <a:off x="0" y="0"/>
              <a:ext cx="76200" cy="76200"/>
            </a:xfrm>
            <a:prstGeom prst="rect">
              <a:avLst/>
            </a:prstGeom>
            <a:solidFill>
              <a:srgbClr val="D8431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5"/>
            <p:cNvSpPr txBox="1"/>
            <p:nvPr/>
          </p:nvSpPr>
          <p:spPr>
            <a:xfrm>
              <a:off x="142875" y="-81162"/>
              <a:ext cx="1905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Equipa e Desenv. (48%)</a:t>
              </a:r>
              <a:endParaRPr b="0" sz="9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2" name="Google Shape;302;p25"/>
            <p:cNvSpPr/>
            <p:nvPr/>
          </p:nvSpPr>
          <p:spPr>
            <a:xfrm>
              <a:off x="0" y="190500"/>
              <a:ext cx="76200" cy="76200"/>
            </a:xfrm>
            <a:prstGeom prst="rect">
              <a:avLst/>
            </a:prstGeom>
            <a:solidFill>
              <a:srgbClr val="FFD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5"/>
            <p:cNvSpPr txBox="1"/>
            <p:nvPr/>
          </p:nvSpPr>
          <p:spPr>
            <a:xfrm>
              <a:off x="142875" y="133350"/>
              <a:ext cx="1905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Go-to-Market (20%)</a:t>
              </a:r>
              <a:endParaRPr b="0" sz="9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4" name="Google Shape;304;p25"/>
            <p:cNvSpPr/>
            <p:nvPr/>
          </p:nvSpPr>
          <p:spPr>
            <a:xfrm>
              <a:off x="0" y="381000"/>
              <a:ext cx="76200" cy="76200"/>
            </a:xfrm>
            <a:prstGeom prst="rect">
              <a:avLst/>
            </a:prstGeom>
            <a:solidFill>
              <a:srgbClr val="00B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5"/>
            <p:cNvSpPr txBox="1"/>
            <p:nvPr/>
          </p:nvSpPr>
          <p:spPr>
            <a:xfrm>
              <a:off x="142875" y="323850"/>
              <a:ext cx="1905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Ops e Seguros (14%)</a:t>
              </a:r>
              <a:endParaRPr b="0" sz="9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6" name="Google Shape;306;p25"/>
            <p:cNvSpPr/>
            <p:nvPr/>
          </p:nvSpPr>
          <p:spPr>
            <a:xfrm>
              <a:off x="0" y="571500"/>
              <a:ext cx="76200" cy="76200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5"/>
            <p:cNvSpPr txBox="1"/>
            <p:nvPr/>
          </p:nvSpPr>
          <p:spPr>
            <a:xfrm>
              <a:off x="142875" y="514350"/>
              <a:ext cx="1905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Legal (10%)</a:t>
              </a:r>
              <a:endParaRPr b="0" sz="9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0" y="762000"/>
              <a:ext cx="76200" cy="76200"/>
            </a:xfrm>
            <a:prstGeom prst="rect">
              <a:avLst/>
            </a:prstGeom>
            <a:solidFill>
              <a:srgbClr val="B2DFD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5"/>
            <p:cNvSpPr txBox="1"/>
            <p:nvPr/>
          </p:nvSpPr>
          <p:spPr>
            <a:xfrm>
              <a:off x="142875" y="704850"/>
              <a:ext cx="1905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Tech e Infra (8%)</a:t>
              </a:r>
              <a:endParaRPr b="0" sz="9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10" name="Google Shape;31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0" y="190500"/>
            <a:ext cx="381000" cy="857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1" name="Google Shape;311;p25"/>
          <p:cNvGrpSpPr/>
          <p:nvPr/>
        </p:nvGrpSpPr>
        <p:grpSpPr>
          <a:xfrm>
            <a:off x="6300964" y="667394"/>
            <a:ext cx="2286000" cy="2286000"/>
            <a:chOff x="-1128386" y="-1144056"/>
            <a:chExt cx="2286000" cy="2286000"/>
          </a:xfrm>
        </p:grpSpPr>
        <p:sp>
          <p:nvSpPr>
            <p:cNvPr id="312" name="Google Shape;312;p25"/>
            <p:cNvSpPr/>
            <p:nvPr/>
          </p:nvSpPr>
          <p:spPr>
            <a:xfrm>
              <a:off x="-1128386" y="-1144056"/>
              <a:ext cx="2286000" cy="2286000"/>
            </a:xfrm>
            <a:prstGeom prst="ellipse">
              <a:avLst/>
            </a:prstGeom>
            <a:noFill/>
            <a:ln cap="flat" cmpd="sng" w="38100">
              <a:solidFill>
                <a:srgbClr val="EE13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3" name="Google Shape;313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5852" y="-1046414"/>
              <a:ext cx="1047900" cy="2090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-952500" y="280988"/>
              <a:ext cx="1086000" cy="76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2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-1047750" y="-447675"/>
              <a:ext cx="447600" cy="89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2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-947737" y="-919162"/>
              <a:ext cx="628800" cy="6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2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-504825" y="-1047750"/>
              <a:ext cx="504900" cy="466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8" name="Google Shape;318;p25"/>
          <p:cNvSpPr/>
          <p:nvPr/>
        </p:nvSpPr>
        <p:spPr>
          <a:xfrm>
            <a:off x="228350" y="1333500"/>
            <a:ext cx="2533800" cy="3159900"/>
          </a:xfrm>
          <a:prstGeom prst="rect">
            <a:avLst/>
          </a:prstGeom>
          <a:noFill/>
          <a:ln cap="flat" cmpd="sng" w="38100">
            <a:solidFill>
              <a:srgbClr val="EEF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25"/>
          <p:cNvGrpSpPr/>
          <p:nvPr/>
        </p:nvGrpSpPr>
        <p:grpSpPr>
          <a:xfrm>
            <a:off x="3333675" y="1333500"/>
            <a:ext cx="2571788" cy="3238500"/>
            <a:chOff x="0" y="0"/>
            <a:chExt cx="2667000" cy="3238500"/>
          </a:xfrm>
        </p:grpSpPr>
        <p:sp>
          <p:nvSpPr>
            <p:cNvPr id="320" name="Google Shape;320;p25"/>
            <p:cNvSpPr/>
            <p:nvPr/>
          </p:nvSpPr>
          <p:spPr>
            <a:xfrm>
              <a:off x="0" y="0"/>
              <a:ext cx="2667000" cy="3238500"/>
            </a:xfrm>
            <a:prstGeom prst="roundRect">
              <a:avLst>
                <a:gd fmla="val 0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5"/>
            <p:cNvSpPr/>
            <p:nvPr/>
          </p:nvSpPr>
          <p:spPr>
            <a:xfrm>
              <a:off x="762000" y="2667000"/>
              <a:ext cx="1143000" cy="266700"/>
            </a:xfrm>
            <a:prstGeom prst="roundRect">
              <a:avLst>
                <a:gd fmla="val 50000" name="adj"/>
              </a:avLst>
            </a:prstGeom>
            <a:solidFill>
              <a:srgbClr val="1E3B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5"/>
            <p:cNvSpPr txBox="1"/>
            <p:nvPr/>
          </p:nvSpPr>
          <p:spPr>
            <a:xfrm>
              <a:off x="762000" y="2667000"/>
              <a:ext cx="1143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0B47D"/>
                  </a:solidFill>
                  <a:latin typeface="Inter"/>
                  <a:ea typeface="Inter"/>
                  <a:cs typeface="Inter"/>
                  <a:sym typeface="Inter"/>
                </a:rPr>
                <a:t>12 MESES RUNWAY</a:t>
              </a:r>
              <a:endParaRPr b="1" sz="750">
                <a:solidFill>
                  <a:srgbClr val="00B47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3" name="Google Shape;323;p25"/>
            <p:cNvSpPr txBox="1"/>
            <p:nvPr/>
          </p:nvSpPr>
          <p:spPr>
            <a:xfrm>
              <a:off x="228600" y="762000"/>
              <a:ext cx="22098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B47D"/>
                  </a:solidFill>
                  <a:latin typeface="Inter"/>
                  <a:ea typeface="Inter"/>
                  <a:cs typeface="Inter"/>
                  <a:sym typeface="Inter"/>
                </a:rPr>
                <a:t>O PEDIDO</a:t>
              </a:r>
              <a:endParaRPr b="1" sz="1200">
                <a:solidFill>
                  <a:srgbClr val="00B47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1" lang="en" sz="5200">
                  <a:solidFill>
                    <a:srgbClr val="EEFF4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€50k</a:t>
              </a:r>
              <a:endParaRPr b="1" sz="5200">
                <a:solidFill>
                  <a:srgbClr val="EEFF4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Investimento Pre-Seed</a:t>
              </a:r>
              <a:endParaRPr b="0" sz="105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24" name="Google Shape;324;p25"/>
          <p:cNvSpPr/>
          <p:nvPr/>
        </p:nvSpPr>
        <p:spPr>
          <a:xfrm>
            <a:off x="3340988" y="1356034"/>
            <a:ext cx="2533800" cy="3238500"/>
          </a:xfrm>
          <a:prstGeom prst="rect">
            <a:avLst/>
          </a:prstGeom>
          <a:noFill/>
          <a:ln cap="flat" cmpd="sng" w="38100">
            <a:solidFill>
              <a:srgbClr val="EE13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32982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9" name="Google Shape;329;p26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4B0B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26"/>
          <p:cNvSpPr txBox="1"/>
          <p:nvPr/>
        </p:nvSpPr>
        <p:spPr>
          <a:xfrm>
            <a:off x="381000" y="48577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RubikMe Pitch Deck</a:t>
            </a:r>
            <a:endParaRPr b="0" sz="75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31" name="Google Shape;331;p26"/>
          <p:cNvSpPr txBox="1"/>
          <p:nvPr/>
        </p:nvSpPr>
        <p:spPr>
          <a:xfrm>
            <a:off x="6858000" y="48577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2026-06-18</a:t>
            </a:r>
            <a:endParaRPr b="0" sz="75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32" name="Google Shape;332;p26"/>
          <p:cNvPicPr preferRelativeResize="0"/>
          <p:nvPr/>
        </p:nvPicPr>
        <p:blipFill rotWithShape="1">
          <a:blip r:embed="rId3">
            <a:alphaModFix/>
          </a:blip>
          <a:srcRect b="0" l="2963" r="2972" t="0"/>
          <a:stretch/>
        </p:blipFill>
        <p:spPr>
          <a:xfrm>
            <a:off x="8382000" y="45243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6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DE614"/>
                </a:solidFill>
                <a:latin typeface="Bebas Neue"/>
                <a:ea typeface="Bebas Neue"/>
                <a:cs typeface="Bebas Neue"/>
                <a:sym typeface="Bebas Neue"/>
              </a:rPr>
              <a:t>ROADMAP &amp; USO DOS FUNDOS</a:t>
            </a:r>
            <a:endParaRPr b="1" sz="3200">
              <a:solidFill>
                <a:srgbClr val="FDE614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381075" y="1143000"/>
            <a:ext cx="4000500" cy="3238500"/>
          </a:xfrm>
          <a:prstGeom prst="roundRect">
            <a:avLst>
              <a:gd fmla="val 2941" name="adj"/>
            </a:avLst>
          </a:prstGeom>
          <a:solidFill>
            <a:srgbClr val="1A1A1A"/>
          </a:solidFill>
          <a:ln cap="flat" cmpd="sng" w="9525">
            <a:solidFill>
              <a:srgbClr val="EE13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619125" y="1381125"/>
            <a:ext cx="3524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42D2FF"/>
                </a:solidFill>
                <a:latin typeface="Urbanist"/>
                <a:ea typeface="Urbanist"/>
                <a:cs typeface="Urbanist"/>
                <a:sym typeface="Urbanist"/>
              </a:rPr>
              <a:t>ALOCAÇÃO DE CAPITAL: €2</a:t>
            </a:r>
            <a:r>
              <a:rPr b="1" lang="en">
                <a:solidFill>
                  <a:srgbClr val="42D2FF"/>
                </a:solidFill>
                <a:latin typeface="Urbanist"/>
                <a:ea typeface="Urbanist"/>
                <a:cs typeface="Urbanist"/>
                <a:sym typeface="Urbanist"/>
              </a:rPr>
              <a:t>05</a:t>
            </a:r>
            <a:r>
              <a:rPr b="1" lang="en" sz="1400">
                <a:solidFill>
                  <a:srgbClr val="42D2FF"/>
                </a:solidFill>
                <a:latin typeface="Urbanist"/>
                <a:ea typeface="Urbanist"/>
                <a:cs typeface="Urbanist"/>
                <a:sym typeface="Urbanist"/>
              </a:rPr>
              <a:t>.000</a:t>
            </a:r>
            <a:endParaRPr b="1" sz="1400">
              <a:solidFill>
                <a:srgbClr val="42D2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42D2FF"/>
                </a:solidFill>
                <a:latin typeface="Urbanist"/>
                <a:ea typeface="Urbanist"/>
                <a:cs typeface="Urbanist"/>
                <a:sym typeface="Urbanist"/>
              </a:rPr>
              <a:t> (48 meses)</a:t>
            </a:r>
            <a:endParaRPr b="1" sz="1400">
              <a:solidFill>
                <a:srgbClr val="42D2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6" name="Google Shape;336;p26"/>
          <p:cNvSpPr/>
          <p:nvPr/>
        </p:nvSpPr>
        <p:spPr>
          <a:xfrm>
            <a:off x="714375" y="2047875"/>
            <a:ext cx="1619100" cy="16191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90500">
            <a:solidFill>
              <a:srgbClr val="4B0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1952625"/>
            <a:ext cx="904800" cy="17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363" y="2576513"/>
            <a:ext cx="1190700" cy="11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8" y="1995488"/>
            <a:ext cx="642900" cy="6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3013" y="1952625"/>
            <a:ext cx="285900" cy="22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26"/>
          <p:cNvGrpSpPr/>
          <p:nvPr/>
        </p:nvGrpSpPr>
        <p:grpSpPr>
          <a:xfrm>
            <a:off x="2524125" y="2038350"/>
            <a:ext cx="1857375" cy="1666875"/>
            <a:chOff x="0" y="-57150"/>
            <a:chExt cx="1857375" cy="1666875"/>
          </a:xfrm>
        </p:grpSpPr>
        <p:sp>
          <p:nvSpPr>
            <p:cNvPr id="342" name="Google Shape;342;p26"/>
            <p:cNvSpPr/>
            <p:nvPr/>
          </p:nvSpPr>
          <p:spPr>
            <a:xfrm>
              <a:off x="0" y="0"/>
              <a:ext cx="76200" cy="76200"/>
            </a:xfrm>
            <a:prstGeom prst="rect">
              <a:avLst/>
            </a:prstGeom>
            <a:solidFill>
              <a:srgbClr val="EE13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6"/>
            <p:cNvSpPr txBox="1"/>
            <p:nvPr/>
          </p:nvSpPr>
          <p:spPr>
            <a:xfrm>
              <a:off x="142875" y="-5715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45% Desenv. &amp; Infra</a:t>
              </a:r>
              <a:endParaRPr b="1" sz="9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3A3A3"/>
                  </a:solidFill>
                  <a:latin typeface="Urbanist"/>
                  <a:ea typeface="Urbanist"/>
                  <a:cs typeface="Urbanist"/>
                  <a:sym typeface="Urbanist"/>
                </a:rPr>
                <a:t>Neo4j &amp; App Mobile</a:t>
              </a:r>
              <a:endParaRPr b="0" sz="900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0" y="428625"/>
              <a:ext cx="76200" cy="76200"/>
            </a:xfrm>
            <a:prstGeom prst="rect">
              <a:avLst/>
            </a:prstGeom>
            <a:solidFill>
              <a:srgbClr val="42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6"/>
            <p:cNvSpPr txBox="1"/>
            <p:nvPr/>
          </p:nvSpPr>
          <p:spPr>
            <a:xfrm>
              <a:off x="142875" y="371475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35% Go-to-Market</a:t>
              </a:r>
              <a:endParaRPr b="1" sz="9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3A3A3"/>
                  </a:solidFill>
                  <a:latin typeface="Urbanist"/>
                  <a:ea typeface="Urbanist"/>
                  <a:cs typeface="Urbanist"/>
                  <a:sym typeface="Urbanist"/>
                </a:rPr>
                <a:t>Sandbox IPB Bragança e Univ</a:t>
              </a:r>
              <a:r>
                <a:rPr lang="en" sz="900">
                  <a:solidFill>
                    <a:srgbClr val="A3A3A3"/>
                  </a:solidFill>
                  <a:latin typeface="Urbanist"/>
                  <a:ea typeface="Urbanist"/>
                  <a:cs typeface="Urbanist"/>
                  <a:sym typeface="Urbanist"/>
                </a:rPr>
                <a:t>s</a:t>
              </a:r>
              <a:endParaRPr b="0" sz="900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0" y="857250"/>
              <a:ext cx="76200" cy="76200"/>
            </a:xfrm>
            <a:prstGeom prst="rect">
              <a:avLst/>
            </a:prstGeom>
            <a:solidFill>
              <a:srgbClr val="FDE61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6"/>
            <p:cNvSpPr txBox="1"/>
            <p:nvPr/>
          </p:nvSpPr>
          <p:spPr>
            <a:xfrm>
              <a:off x="142875" y="80010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15% Ops &amp; Garantia</a:t>
              </a:r>
              <a:endParaRPr b="1" sz="9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3A3A3"/>
                  </a:solidFill>
                  <a:latin typeface="Urbanist"/>
                  <a:ea typeface="Urbanist"/>
                  <a:cs typeface="Urbanist"/>
                  <a:sym typeface="Urbanist"/>
                </a:rPr>
                <a:t>Seguros das trocas</a:t>
              </a:r>
              <a:endParaRPr b="0" sz="900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0" y="1285875"/>
              <a:ext cx="76200" cy="762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6"/>
            <p:cNvSpPr txBox="1"/>
            <p:nvPr/>
          </p:nvSpPr>
          <p:spPr>
            <a:xfrm>
              <a:off x="142875" y="1228725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5% Legal &amp; Compliance</a:t>
              </a:r>
              <a:endParaRPr b="1" sz="9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3A3A3"/>
                  </a:solidFill>
                  <a:latin typeface="Urbanist"/>
                  <a:ea typeface="Urbanist"/>
                  <a:cs typeface="Urbanist"/>
                  <a:sym typeface="Urbanist"/>
                </a:rPr>
                <a:t>RGPD &amp; Dados</a:t>
              </a:r>
              <a:endParaRPr b="0" sz="900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350" name="Google Shape;350;p26"/>
          <p:cNvSpPr/>
          <p:nvPr/>
        </p:nvSpPr>
        <p:spPr>
          <a:xfrm>
            <a:off x="4762500" y="1143000"/>
            <a:ext cx="4000500" cy="3238500"/>
          </a:xfrm>
          <a:prstGeom prst="roundRect">
            <a:avLst>
              <a:gd fmla="val 2941" name="adj"/>
            </a:avLst>
          </a:prstGeom>
          <a:solidFill>
            <a:srgbClr val="1A1A1A"/>
          </a:solidFill>
          <a:ln cap="flat" cmpd="sng" w="9525">
            <a:solidFill>
              <a:srgbClr val="42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6"/>
          <p:cNvSpPr txBox="1"/>
          <p:nvPr/>
        </p:nvSpPr>
        <p:spPr>
          <a:xfrm>
            <a:off x="5000625" y="1381125"/>
            <a:ext cx="3524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42D2FF"/>
                </a:solidFill>
                <a:latin typeface="Urbanist"/>
                <a:ea typeface="Urbanist"/>
                <a:cs typeface="Urbanist"/>
                <a:sym typeface="Urbanist"/>
              </a:rPr>
              <a:t>VISÃO 12-18 MESES</a:t>
            </a:r>
            <a:endParaRPr b="1" sz="1400">
              <a:solidFill>
                <a:srgbClr val="42D2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352" name="Google Shape;352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81600" y="2000250"/>
            <a:ext cx="19200" cy="1866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3" name="Google Shape;353;p26"/>
          <p:cNvGrpSpPr/>
          <p:nvPr/>
        </p:nvGrpSpPr>
        <p:grpSpPr>
          <a:xfrm>
            <a:off x="5095875" y="1809750"/>
            <a:ext cx="3429000" cy="571500"/>
            <a:chOff x="0" y="-95250"/>
            <a:chExt cx="3429000" cy="571500"/>
          </a:xfrm>
        </p:grpSpPr>
        <p:sp>
          <p:nvSpPr>
            <p:cNvPr id="354" name="Google Shape;354;p26"/>
            <p:cNvSpPr/>
            <p:nvPr/>
          </p:nvSpPr>
          <p:spPr>
            <a:xfrm>
              <a:off x="0" y="0"/>
              <a:ext cx="190500" cy="190500"/>
            </a:xfrm>
            <a:prstGeom prst="ellipse">
              <a:avLst/>
            </a:prstGeom>
            <a:solidFill>
              <a:srgbClr val="42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6"/>
            <p:cNvSpPr txBox="1"/>
            <p:nvPr/>
          </p:nvSpPr>
          <p:spPr>
            <a:xfrm>
              <a:off x="285750" y="17526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20">
                  <a:solidFill>
                    <a:srgbClr val="53298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1020">
                <a:solidFill>
                  <a:srgbClr val="53298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6" name="Google Shape;356;p26"/>
            <p:cNvSpPr txBox="1"/>
            <p:nvPr/>
          </p:nvSpPr>
          <p:spPr>
            <a:xfrm>
              <a:off x="762000" y="-95250"/>
              <a:ext cx="2667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E1379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MÊS 1-3: BETA FECHADO</a:t>
              </a:r>
              <a:endParaRPr b="0" sz="1000">
                <a:solidFill>
                  <a:srgbClr val="EE1379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Lançamento exclusivo para estudantes do IPB. Foco em feedback e iteração.</a:t>
              </a:r>
              <a:endParaRPr b="0" sz="10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57" name="Google Shape;357;p26"/>
          <p:cNvGrpSpPr/>
          <p:nvPr/>
        </p:nvGrpSpPr>
        <p:grpSpPr>
          <a:xfrm>
            <a:off x="5095875" y="2619375"/>
            <a:ext cx="3429000" cy="571500"/>
            <a:chOff x="0" y="-95250"/>
            <a:chExt cx="3429000" cy="571500"/>
          </a:xfrm>
        </p:grpSpPr>
        <p:sp>
          <p:nvSpPr>
            <p:cNvPr id="358" name="Google Shape;358;p26"/>
            <p:cNvSpPr/>
            <p:nvPr/>
          </p:nvSpPr>
          <p:spPr>
            <a:xfrm>
              <a:off x="0" y="0"/>
              <a:ext cx="190500" cy="190500"/>
            </a:xfrm>
            <a:prstGeom prst="ellipse">
              <a:avLst/>
            </a:prstGeom>
            <a:solidFill>
              <a:srgbClr val="EE13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6"/>
            <p:cNvSpPr txBox="1"/>
            <p:nvPr/>
          </p:nvSpPr>
          <p:spPr>
            <a:xfrm>
              <a:off x="285750" y="17526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20">
                  <a:solidFill>
                    <a:srgbClr val="1A1A1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1020">
                <a:solidFill>
                  <a:srgbClr val="1A1A1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0" name="Google Shape;360;p26"/>
            <p:cNvSpPr txBox="1"/>
            <p:nvPr/>
          </p:nvSpPr>
          <p:spPr>
            <a:xfrm>
              <a:off x="762000" y="-95250"/>
              <a:ext cx="2667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E1379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MÊS 6: TRAÇÃO E MODELO</a:t>
              </a:r>
              <a:endParaRPr b="0" sz="1000">
                <a:solidFill>
                  <a:srgbClr val="EE1379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3.000 trocas mensais validadas. Prova real de viabilidade do negócio.</a:t>
              </a:r>
              <a:endParaRPr b="0" sz="10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61" name="Google Shape;361;p26"/>
          <p:cNvGrpSpPr/>
          <p:nvPr/>
        </p:nvGrpSpPr>
        <p:grpSpPr>
          <a:xfrm>
            <a:off x="5095875" y="3429000"/>
            <a:ext cx="3429000" cy="571500"/>
            <a:chOff x="0" y="-95250"/>
            <a:chExt cx="3429000" cy="571500"/>
          </a:xfrm>
        </p:grpSpPr>
        <p:sp>
          <p:nvSpPr>
            <p:cNvPr id="362" name="Google Shape;362;p26"/>
            <p:cNvSpPr/>
            <p:nvPr/>
          </p:nvSpPr>
          <p:spPr>
            <a:xfrm>
              <a:off x="0" y="0"/>
              <a:ext cx="190500" cy="190500"/>
            </a:xfrm>
            <a:prstGeom prst="ellipse">
              <a:avLst/>
            </a:prstGeom>
            <a:solidFill>
              <a:srgbClr val="FDE61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6"/>
            <p:cNvSpPr txBox="1"/>
            <p:nvPr/>
          </p:nvSpPr>
          <p:spPr>
            <a:xfrm>
              <a:off x="285750" y="17526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20">
                  <a:solidFill>
                    <a:srgbClr val="1A1A1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map</a:t>
              </a:r>
              <a:endParaRPr sz="1020">
                <a:solidFill>
                  <a:srgbClr val="1A1A1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4" name="Google Shape;364;p26"/>
            <p:cNvSpPr txBox="1"/>
            <p:nvPr/>
          </p:nvSpPr>
          <p:spPr>
            <a:xfrm>
              <a:off x="762000" y="-95250"/>
              <a:ext cx="2667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DE614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MÊS 12-18: ESCALA NACIONAL</a:t>
              </a:r>
              <a:endParaRPr b="0" sz="1000">
                <a:solidFill>
                  <a:srgbClr val="FDE614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Expansão para Universidades do Norte e Centro. Alcance do Break-even.</a:t>
              </a:r>
              <a:endParaRPr b="0" sz="10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27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370" name="Google Shape;370;p27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B0B7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1" name="Google Shape;371;p27"/>
            <p:cNvSpPr txBox="1"/>
            <p:nvPr/>
          </p:nvSpPr>
          <p:spPr>
            <a:xfrm>
              <a:off x="381000" y="4857750"/>
              <a:ext cx="1905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RubikMe Pitch Deck</a:t>
              </a:r>
              <a:endParaRPr b="0" sz="75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72" name="Google Shape;372;p27"/>
            <p:cNvSpPr txBox="1"/>
            <p:nvPr/>
          </p:nvSpPr>
          <p:spPr>
            <a:xfrm>
              <a:off x="6858000" y="4857750"/>
              <a:ext cx="1905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2026-06-17</a:t>
              </a:r>
              <a:endParaRPr b="0" sz="75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373" name="Google Shape;373;p27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EFF41"/>
                </a:solidFill>
                <a:latin typeface="Bebas Neue"/>
                <a:ea typeface="Bebas Neue"/>
                <a:cs typeface="Bebas Neue"/>
                <a:sym typeface="Bebas Neue"/>
              </a:rPr>
              <a:t>Equipa e Impacto</a:t>
            </a:r>
            <a:endParaRPr b="1" sz="3200">
              <a:solidFill>
                <a:srgbClr val="EEFF4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grpSp>
        <p:nvGrpSpPr>
          <p:cNvPr id="374" name="Google Shape;374;p27"/>
          <p:cNvGrpSpPr/>
          <p:nvPr/>
        </p:nvGrpSpPr>
        <p:grpSpPr>
          <a:xfrm>
            <a:off x="381000" y="1238250"/>
            <a:ext cx="4000500" cy="3238500"/>
            <a:chOff x="0" y="0"/>
            <a:chExt cx="4000500" cy="3238500"/>
          </a:xfrm>
        </p:grpSpPr>
        <p:sp>
          <p:nvSpPr>
            <p:cNvPr id="375" name="Google Shape;375;p27"/>
            <p:cNvSpPr/>
            <p:nvPr/>
          </p:nvSpPr>
          <p:spPr>
            <a:xfrm>
              <a:off x="0" y="0"/>
              <a:ext cx="4000500" cy="3238500"/>
            </a:xfrm>
            <a:prstGeom prst="roundRect">
              <a:avLst>
                <a:gd fmla="val 0" name="adj"/>
              </a:avLst>
            </a:prstGeom>
            <a:solidFill>
              <a:srgbClr val="1A1A1A"/>
            </a:solidFill>
            <a:ln cap="flat" cmpd="sng" w="9525">
              <a:solidFill>
                <a:srgbClr val="00B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7"/>
            <p:cNvSpPr txBox="1"/>
            <p:nvPr/>
          </p:nvSpPr>
          <p:spPr>
            <a:xfrm>
              <a:off x="228600" y="228600"/>
              <a:ext cx="3543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B47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Fundador &amp; Plano de Expansão</a:t>
              </a:r>
              <a:endParaRPr b="0" sz="1000">
                <a:solidFill>
                  <a:srgbClr val="00B47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377" name="Google Shape;377;p27"/>
            <p:cNvGrpSpPr/>
            <p:nvPr/>
          </p:nvGrpSpPr>
          <p:grpSpPr>
            <a:xfrm>
              <a:off x="228600" y="666750"/>
              <a:ext cx="3543300" cy="762000"/>
              <a:chOff x="0" y="0"/>
              <a:chExt cx="3543300" cy="762000"/>
            </a:xfrm>
          </p:grpSpPr>
          <p:pic>
            <p:nvPicPr>
              <p:cNvPr id="378" name="Google Shape;378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0"/>
                <a:ext cx="762000" cy="762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379" name="Google Shape;379;p27"/>
              <p:cNvSpPr txBox="1"/>
              <p:nvPr/>
            </p:nvSpPr>
            <p:spPr>
              <a:xfrm>
                <a:off x="952500" y="0"/>
                <a:ext cx="25908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F5F5F5"/>
                    </a:solidFill>
                    <a:latin typeface="Inter"/>
                    <a:ea typeface="Inter"/>
                    <a:cs typeface="Inter"/>
                    <a:sym typeface="Inter"/>
                  </a:rPr>
                  <a:t>Robson Alves</a:t>
                </a:r>
                <a:endParaRPr b="1" sz="16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0B47D"/>
                    </a:solidFill>
                    <a:latin typeface="Inter"/>
                    <a:ea typeface="Inter"/>
                    <a:cs typeface="Inter"/>
                    <a:sym typeface="Inter"/>
                  </a:rPr>
                  <a:t>Fundador</a:t>
                </a:r>
                <a:endParaRPr b="0" sz="1100">
                  <a:solidFill>
                    <a:srgbClr val="00B47D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380" name="Google Shape;380;p27"/>
            <p:cNvSpPr/>
            <p:nvPr/>
          </p:nvSpPr>
          <p:spPr>
            <a:xfrm>
              <a:off x="228600" y="1666875"/>
              <a:ext cx="3543300" cy="96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7"/>
            <p:cNvSpPr txBox="1"/>
            <p:nvPr/>
          </p:nvSpPr>
          <p:spPr>
            <a:xfrm>
              <a:off x="228600" y="1905000"/>
              <a:ext cx="3543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F5F5F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Intenção a Curto Prazo</a:t>
              </a:r>
              <a:endParaRPr b="0" sz="1200">
                <a:solidFill>
                  <a:srgbClr val="F5F5F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Plano de Expansão:</a:t>
              </a:r>
              <a:endParaRPr sz="11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F5F5F5"/>
                </a:buClr>
                <a:buSzPts val="1100"/>
                <a:buFont typeface="Inter"/>
                <a:buChar char="●"/>
              </a:pPr>
              <a:r>
                <a:rPr lang="en" sz="11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+1 Frontend Developer</a:t>
              </a:r>
              <a:endParaRPr sz="11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F5F5F5"/>
                </a:buClr>
                <a:buSzPts val="1100"/>
                <a:buFont typeface="Inter"/>
                <a:buChar char="●"/>
              </a:pPr>
              <a:r>
                <a:rPr lang="en" sz="11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+1 Growth Manager</a:t>
              </a:r>
              <a:endParaRPr sz="11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2" name="Google Shape;382;p27"/>
          <p:cNvGrpSpPr/>
          <p:nvPr/>
        </p:nvGrpSpPr>
        <p:grpSpPr>
          <a:xfrm>
            <a:off x="4762500" y="1238250"/>
            <a:ext cx="4000500" cy="3238500"/>
            <a:chOff x="0" y="0"/>
            <a:chExt cx="4000500" cy="3238500"/>
          </a:xfrm>
        </p:grpSpPr>
        <p:sp>
          <p:nvSpPr>
            <p:cNvPr id="383" name="Google Shape;383;p27"/>
            <p:cNvSpPr/>
            <p:nvPr/>
          </p:nvSpPr>
          <p:spPr>
            <a:xfrm>
              <a:off x="0" y="0"/>
              <a:ext cx="4000500" cy="3238500"/>
            </a:xfrm>
            <a:prstGeom prst="roundRect">
              <a:avLst>
                <a:gd fmla="val 0" name="adj"/>
              </a:avLst>
            </a:prstGeom>
            <a:solidFill>
              <a:srgbClr val="1A1A1A"/>
            </a:solidFill>
            <a:ln cap="flat" cmpd="sng" w="9525">
              <a:solidFill>
                <a:srgbClr val="4B0B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7"/>
            <p:cNvSpPr txBox="1"/>
            <p:nvPr/>
          </p:nvSpPr>
          <p:spPr>
            <a:xfrm>
              <a:off x="228600" y="228600"/>
              <a:ext cx="3543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EFF4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Impacto no Mundo Real</a:t>
              </a:r>
              <a:endParaRPr b="0" sz="1000">
                <a:solidFill>
                  <a:srgbClr val="EEFF4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385" name="Google Shape;385;p27"/>
            <p:cNvGrpSpPr/>
            <p:nvPr/>
          </p:nvGrpSpPr>
          <p:grpSpPr>
            <a:xfrm>
              <a:off x="228600" y="666750"/>
              <a:ext cx="3543300" cy="714300"/>
              <a:chOff x="0" y="0"/>
              <a:chExt cx="3543300" cy="714300"/>
            </a:xfrm>
          </p:grpSpPr>
          <p:sp>
            <p:nvSpPr>
              <p:cNvPr id="386" name="Google Shape;386;p27"/>
              <p:cNvSpPr/>
              <p:nvPr/>
            </p:nvSpPr>
            <p:spPr>
              <a:xfrm>
                <a:off x="0" y="0"/>
                <a:ext cx="3543300" cy="714300"/>
              </a:xfrm>
              <a:prstGeom prst="roundRect">
                <a:avLst>
                  <a:gd fmla="val 10666" name="adj"/>
                </a:avLst>
              </a:prstGeom>
              <a:solidFill>
                <a:srgbClr val="3D0364">
                  <a:alpha val="3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27"/>
              <p:cNvSpPr/>
              <p:nvPr/>
            </p:nvSpPr>
            <p:spPr>
              <a:xfrm>
                <a:off x="295275" y="319088"/>
                <a:ext cx="76200" cy="76200"/>
              </a:xfrm>
              <a:prstGeom prst="ellipse">
                <a:avLst/>
              </a:prstGeom>
              <a:solidFill>
                <a:srgbClr val="00B4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7"/>
              <p:cNvSpPr txBox="1"/>
              <p:nvPr/>
            </p:nvSpPr>
            <p:spPr>
              <a:xfrm>
                <a:off x="428625" y="95250"/>
                <a:ext cx="29529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5F5F5"/>
                    </a:solidFill>
                    <a:latin typeface="Inter"/>
                    <a:ea typeface="Inter"/>
                    <a:cs typeface="Inter"/>
                    <a:sym typeface="Inter"/>
                  </a:rPr>
                  <a:t>Desenvolvimento Regional</a:t>
                </a:r>
                <a:endParaRPr b="1" sz="11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A3A3A3"/>
                    </a:solidFill>
                    <a:latin typeface="Inter"/>
                    <a:ea typeface="Inter"/>
                    <a:cs typeface="Inter"/>
                    <a:sym typeface="Inter"/>
                  </a:rPr>
                  <a:t>Criação de emprego qualificado no interior de Portugal.</a:t>
                </a:r>
                <a:endParaRPr sz="100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89" name="Google Shape;389;p27"/>
            <p:cNvGrpSpPr/>
            <p:nvPr/>
          </p:nvGrpSpPr>
          <p:grpSpPr>
            <a:xfrm>
              <a:off x="228600" y="1476375"/>
              <a:ext cx="3543300" cy="714300"/>
              <a:chOff x="0" y="0"/>
              <a:chExt cx="3543300" cy="714300"/>
            </a:xfrm>
          </p:grpSpPr>
          <p:sp>
            <p:nvSpPr>
              <p:cNvPr id="390" name="Google Shape;390;p27"/>
              <p:cNvSpPr/>
              <p:nvPr/>
            </p:nvSpPr>
            <p:spPr>
              <a:xfrm>
                <a:off x="0" y="0"/>
                <a:ext cx="3543300" cy="714300"/>
              </a:xfrm>
              <a:prstGeom prst="roundRect">
                <a:avLst>
                  <a:gd fmla="val 10666" name="adj"/>
                </a:avLst>
              </a:prstGeom>
              <a:solidFill>
                <a:srgbClr val="3D0364">
                  <a:alpha val="3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7"/>
              <p:cNvSpPr/>
              <p:nvPr/>
            </p:nvSpPr>
            <p:spPr>
              <a:xfrm>
                <a:off x="295275" y="319088"/>
                <a:ext cx="76200" cy="76200"/>
              </a:xfrm>
              <a:prstGeom prst="ellipse">
                <a:avLst/>
              </a:prstGeom>
              <a:solidFill>
                <a:srgbClr val="00B4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7"/>
              <p:cNvSpPr txBox="1"/>
              <p:nvPr/>
            </p:nvSpPr>
            <p:spPr>
              <a:xfrm>
                <a:off x="428625" y="95250"/>
                <a:ext cx="29529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5F5F5"/>
                    </a:solidFill>
                    <a:latin typeface="Inter"/>
                    <a:ea typeface="Inter"/>
                    <a:cs typeface="Inter"/>
                    <a:sym typeface="Inter"/>
                  </a:rPr>
                  <a:t>Economia Circular</a:t>
                </a:r>
                <a:endParaRPr b="1" sz="11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A3A3A3"/>
                    </a:solidFill>
                    <a:latin typeface="Inter"/>
                    <a:ea typeface="Inter"/>
                    <a:cs typeface="Inter"/>
                    <a:sym typeface="Inter"/>
                  </a:rPr>
                  <a:t>Impulso ativo ao prolongar a vida útil dos produtos.</a:t>
                </a:r>
                <a:endParaRPr sz="100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93" name="Google Shape;393;p27"/>
            <p:cNvGrpSpPr/>
            <p:nvPr/>
          </p:nvGrpSpPr>
          <p:grpSpPr>
            <a:xfrm>
              <a:off x="228600" y="2286000"/>
              <a:ext cx="3543300" cy="714300"/>
              <a:chOff x="0" y="0"/>
              <a:chExt cx="3543300" cy="714300"/>
            </a:xfrm>
          </p:grpSpPr>
          <p:sp>
            <p:nvSpPr>
              <p:cNvPr id="394" name="Google Shape;394;p27"/>
              <p:cNvSpPr/>
              <p:nvPr/>
            </p:nvSpPr>
            <p:spPr>
              <a:xfrm>
                <a:off x="0" y="0"/>
                <a:ext cx="3543300" cy="714300"/>
              </a:xfrm>
              <a:prstGeom prst="roundRect">
                <a:avLst>
                  <a:gd fmla="val 10666" name="adj"/>
                </a:avLst>
              </a:prstGeom>
              <a:solidFill>
                <a:srgbClr val="3D0364">
                  <a:alpha val="3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27"/>
              <p:cNvSpPr/>
              <p:nvPr/>
            </p:nvSpPr>
            <p:spPr>
              <a:xfrm>
                <a:off x="295275" y="319088"/>
                <a:ext cx="76200" cy="76200"/>
              </a:xfrm>
              <a:prstGeom prst="ellipse">
                <a:avLst/>
              </a:prstGeom>
              <a:solidFill>
                <a:srgbClr val="00B4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27"/>
              <p:cNvSpPr txBox="1"/>
              <p:nvPr/>
            </p:nvSpPr>
            <p:spPr>
              <a:xfrm>
                <a:off x="428625" y="95250"/>
                <a:ext cx="29529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5F5F5"/>
                    </a:solidFill>
                    <a:latin typeface="Inter"/>
                    <a:ea typeface="Inter"/>
                    <a:cs typeface="Inter"/>
                    <a:sym typeface="Inter"/>
                  </a:rPr>
                  <a:t>Inclusão Económica</a:t>
                </a:r>
                <a:endParaRPr b="1" sz="11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A3A3A3"/>
                    </a:solidFill>
                    <a:latin typeface="Inter"/>
                    <a:ea typeface="Inter"/>
                    <a:cs typeface="Inter"/>
                    <a:sym typeface="Inter"/>
                  </a:rPr>
                  <a:t>Acesso ao consumo para utilizadores sem liquidez imediata.</a:t>
                </a:r>
                <a:endParaRPr sz="100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397" name="Google Shape;39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04479" y="4524451"/>
            <a:ext cx="445800" cy="4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7"/>
          <p:cNvSpPr/>
          <p:nvPr/>
        </p:nvSpPr>
        <p:spPr>
          <a:xfrm>
            <a:off x="381000" y="1238175"/>
            <a:ext cx="4019700" cy="3238500"/>
          </a:xfrm>
          <a:prstGeom prst="rect">
            <a:avLst/>
          </a:prstGeom>
          <a:noFill/>
          <a:ln cap="flat" cmpd="sng" w="38100">
            <a:solidFill>
              <a:srgbClr val="EEF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7"/>
          <p:cNvSpPr/>
          <p:nvPr/>
        </p:nvSpPr>
        <p:spPr>
          <a:xfrm>
            <a:off x="4743300" y="1238250"/>
            <a:ext cx="4019700" cy="3238500"/>
          </a:xfrm>
          <a:prstGeom prst="rect">
            <a:avLst/>
          </a:prstGeom>
          <a:noFill/>
          <a:ln cap="flat" cmpd="sng" w="38100">
            <a:solidFill>
              <a:srgbClr val="EE13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0364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28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405" name="Google Shape;405;p28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6" name="Google Shape;406;p28"/>
            <p:cNvSpPr txBox="1"/>
            <p:nvPr/>
          </p:nvSpPr>
          <p:spPr>
            <a:xfrm>
              <a:off x="381000" y="48577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RubikMe Pitch Deck</a:t>
              </a:r>
              <a:endParaRPr/>
            </a:p>
          </p:txBody>
        </p:sp>
        <p:sp>
          <p:nvSpPr>
            <p:cNvPr id="407" name="Google Shape;407;p28"/>
            <p:cNvSpPr txBox="1"/>
            <p:nvPr/>
          </p:nvSpPr>
          <p:spPr>
            <a:xfrm>
              <a:off x="6858000" y="48577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2026-06-17</a:t>
              </a:r>
              <a:endParaRPr/>
            </a:p>
          </p:txBody>
        </p:sp>
      </p:grpSp>
      <p:sp>
        <p:nvSpPr>
          <p:cNvPr id="408" name="Google Shape;408;p28"/>
          <p:cNvSpPr txBox="1"/>
          <p:nvPr/>
        </p:nvSpPr>
        <p:spPr>
          <a:xfrm>
            <a:off x="381000" y="857250"/>
            <a:ext cx="8382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solidFill>
                  <a:schemeClr val="accent6"/>
                </a:solidFill>
                <a:latin typeface="Bebas Neue"/>
                <a:ea typeface="Bebas Neue"/>
                <a:cs typeface="Bebas Neue"/>
                <a:sym typeface="Bebas Neue"/>
              </a:rPr>
              <a:t>Já é um </a:t>
            </a:r>
            <a:r>
              <a:rPr b="1" lang="en" sz="2850">
                <a:solidFill>
                  <a:schemeClr val="accent6"/>
                </a:solidFill>
                <a:latin typeface="Bebas Neue"/>
                <a:ea typeface="Bebas Neue"/>
                <a:cs typeface="Bebas Neue"/>
                <a:sym typeface="Bebas Neue"/>
              </a:rPr>
              <a:t>produto.</a:t>
            </a:r>
            <a:endParaRPr b="1" sz="2850">
              <a:solidFill>
                <a:schemeClr val="accent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rPr b="0" lang="en" sz="1200">
                <a:solidFill>
                  <a:srgbClr val="A3A3A3"/>
                </a:solidFill>
                <a:latin typeface="Inter Medium"/>
                <a:ea typeface="Inter Medium"/>
                <a:cs typeface="Inter Medium"/>
                <a:sym typeface="Inter Medium"/>
              </a:rPr>
              <a:t>O RubikMe possui uma tração técnica comprovada e um caminho claro para a entrada no mercado a curto prazo.</a:t>
            </a:r>
            <a:endParaRPr b="0" sz="1200">
              <a:solidFill>
                <a:srgbClr val="A3A3A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409" name="Google Shape;409;p28"/>
          <p:cNvGrpSpPr/>
          <p:nvPr/>
        </p:nvGrpSpPr>
        <p:grpSpPr>
          <a:xfrm>
            <a:off x="381000" y="2000250"/>
            <a:ext cx="2667000" cy="2286000"/>
            <a:chOff x="0" y="0"/>
            <a:chExt cx="2667000" cy="2286000"/>
          </a:xfrm>
        </p:grpSpPr>
        <p:sp>
          <p:nvSpPr>
            <p:cNvPr id="410" name="Google Shape;410;p28"/>
            <p:cNvSpPr/>
            <p:nvPr/>
          </p:nvSpPr>
          <p:spPr>
            <a:xfrm>
              <a:off x="0" y="0"/>
              <a:ext cx="2667000" cy="2286000"/>
            </a:xfrm>
            <a:prstGeom prst="rect">
              <a:avLst/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8"/>
            <p:cNvSpPr/>
            <p:nvPr/>
          </p:nvSpPr>
          <p:spPr>
            <a:xfrm>
              <a:off x="0" y="0"/>
              <a:ext cx="38100" cy="2286000"/>
            </a:xfrm>
            <a:prstGeom prst="rect">
              <a:avLst/>
            </a:prstGeom>
            <a:solidFill>
              <a:srgbClr val="00B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8"/>
            <p:cNvSpPr txBox="1"/>
            <p:nvPr/>
          </p:nvSpPr>
          <p:spPr>
            <a:xfrm>
              <a:off x="228600" y="228600"/>
              <a:ext cx="2209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B47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STATUS: CONSTRUÍDO</a:t>
              </a:r>
              <a:endParaRPr b="0" sz="900">
                <a:solidFill>
                  <a:srgbClr val="00B47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Núcleo Tecnológico</a:t>
              </a:r>
              <a:endParaRPr b="1" sz="12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O núcleo tecnológico está operacional, com o Backend em Spring Boot e a base de dados em grafos Neo4j configurados.</a:t>
              </a:r>
              <a:endParaRPr b="0" sz="105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3" name="Google Shape;413;p28"/>
          <p:cNvGrpSpPr/>
          <p:nvPr/>
        </p:nvGrpSpPr>
        <p:grpSpPr>
          <a:xfrm>
            <a:off x="3238500" y="2000250"/>
            <a:ext cx="2667000" cy="2286000"/>
            <a:chOff x="0" y="0"/>
            <a:chExt cx="2667000" cy="2286000"/>
          </a:xfrm>
        </p:grpSpPr>
        <p:sp>
          <p:nvSpPr>
            <p:cNvPr id="414" name="Google Shape;414;p28"/>
            <p:cNvSpPr/>
            <p:nvPr/>
          </p:nvSpPr>
          <p:spPr>
            <a:xfrm>
              <a:off x="0" y="0"/>
              <a:ext cx="2667000" cy="2286000"/>
            </a:xfrm>
            <a:prstGeom prst="rect">
              <a:avLst/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8"/>
            <p:cNvSpPr/>
            <p:nvPr/>
          </p:nvSpPr>
          <p:spPr>
            <a:xfrm>
              <a:off x="0" y="0"/>
              <a:ext cx="38100" cy="2286000"/>
            </a:xfrm>
            <a:prstGeom prst="rect">
              <a:avLst/>
            </a:prstGeom>
            <a:solidFill>
              <a:srgbClr val="00B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8"/>
            <p:cNvSpPr txBox="1"/>
            <p:nvPr/>
          </p:nvSpPr>
          <p:spPr>
            <a:xfrm>
              <a:off x="228600" y="228600"/>
              <a:ext cx="2209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B47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STATUS: VALIDADO</a:t>
              </a:r>
              <a:endParaRPr b="0" sz="900">
                <a:solidFill>
                  <a:srgbClr val="00B47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Validação Institucional</a:t>
              </a:r>
              <a:endParaRPr b="1" sz="12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Projeto validado no ecossistema do IPB e em fase de rascunho avançado junto do IAPMEI.</a:t>
              </a:r>
              <a:endParaRPr b="0" sz="105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7" name="Google Shape;417;p28"/>
          <p:cNvGrpSpPr/>
          <p:nvPr/>
        </p:nvGrpSpPr>
        <p:grpSpPr>
          <a:xfrm>
            <a:off x="6096000" y="2000250"/>
            <a:ext cx="2667000" cy="2286000"/>
            <a:chOff x="0" y="0"/>
            <a:chExt cx="2667000" cy="2286000"/>
          </a:xfrm>
        </p:grpSpPr>
        <p:sp>
          <p:nvSpPr>
            <p:cNvPr id="418" name="Google Shape;418;p28"/>
            <p:cNvSpPr/>
            <p:nvPr/>
          </p:nvSpPr>
          <p:spPr>
            <a:xfrm>
              <a:off x="0" y="0"/>
              <a:ext cx="2667000" cy="2286000"/>
            </a:xfrm>
            <a:prstGeom prst="rect">
              <a:avLst/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8"/>
            <p:cNvSpPr/>
            <p:nvPr/>
          </p:nvSpPr>
          <p:spPr>
            <a:xfrm>
              <a:off x="0" y="0"/>
              <a:ext cx="38100" cy="2286000"/>
            </a:xfrm>
            <a:prstGeom prst="rect">
              <a:avLst/>
            </a:prstGeom>
            <a:solidFill>
              <a:srgbClr val="00B4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8"/>
            <p:cNvSpPr txBox="1"/>
            <p:nvPr/>
          </p:nvSpPr>
          <p:spPr>
            <a:xfrm>
              <a:off x="228600" y="228600"/>
              <a:ext cx="2209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B47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PRÓXIMO</a:t>
              </a:r>
              <a:r>
                <a:rPr lang="en" sz="900">
                  <a:solidFill>
                    <a:srgbClr val="00B47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SEMESTRE</a:t>
              </a:r>
              <a:endParaRPr sz="900">
                <a:solidFill>
                  <a:srgbClr val="00B47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5F5F5"/>
                  </a:solidFill>
                  <a:latin typeface="Inter"/>
                  <a:ea typeface="Inter"/>
                  <a:cs typeface="Inter"/>
                  <a:sym typeface="Inter"/>
                </a:rPr>
                <a:t>Beta Fechado</a:t>
              </a:r>
              <a:endParaRPr b="1" sz="120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A3A3A3"/>
                  </a:solidFill>
                  <a:latin typeface="Inter"/>
                  <a:ea typeface="Inter"/>
                  <a:cs typeface="Inter"/>
                  <a:sym typeface="Inter"/>
                </a:rPr>
                <a:t>Lançamento para a comunidade estudantil, estabelecendo prova de conceito em ambiente real e iterando com base em feedback.</a:t>
              </a:r>
              <a:endParaRPr b="0" sz="105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21" name="Google Shape;42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3138488"/>
            <a:ext cx="1905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500" y="3138488"/>
            <a:ext cx="1905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4479" y="4524451"/>
            <a:ext cx="445800" cy="4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0364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9"/>
          <p:cNvSpPr txBox="1"/>
          <p:nvPr/>
        </p:nvSpPr>
        <p:spPr>
          <a:xfrm>
            <a:off x="381000" y="85725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2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Kyle MacDonald começou com um clipe. </a:t>
            </a:r>
            <a:br>
              <a:rPr b="1" lang="en" sz="2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" sz="2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Todos podem fazer o mesmo.</a:t>
            </a:r>
            <a:endParaRPr b="1" sz="2500"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29" name="Google Shape;429;p29"/>
          <p:cNvGrpSpPr/>
          <p:nvPr/>
        </p:nvGrpSpPr>
        <p:grpSpPr>
          <a:xfrm>
            <a:off x="723900" y="1809750"/>
            <a:ext cx="7467600" cy="762000"/>
            <a:chOff x="-228600" y="0"/>
            <a:chExt cx="7467600" cy="762000"/>
          </a:xfrm>
        </p:grpSpPr>
        <p:sp>
          <p:nvSpPr>
            <p:cNvPr id="430" name="Google Shape;430;p29"/>
            <p:cNvSpPr/>
            <p:nvPr/>
          </p:nvSpPr>
          <p:spPr>
            <a:xfrm>
              <a:off x="-228600" y="249250"/>
              <a:ext cx="457200" cy="4572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60000" y="0"/>
                  </a:lnTo>
                  <a:lnTo>
                    <a:pt x="60000" y="30000"/>
                  </a:lnTo>
                  <a:lnTo>
                    <a:pt x="120000" y="30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B47D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9"/>
            <p:cNvSpPr txBox="1"/>
            <p:nvPr/>
          </p:nvSpPr>
          <p:spPr>
            <a:xfrm>
              <a:off x="0" y="0"/>
              <a:ext cx="723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950">
                  <a:solidFill>
                    <a:srgbClr val="F5F5F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 pa</a:t>
              </a:r>
              <a:r>
                <a:rPr i="1" lang="en" sz="1950">
                  <a:solidFill>
                    <a:srgbClr val="F5F5F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pel do RubikMe é integrar pessoas na Economia utilizando coisas que não querem mais como moeda, o que tira o desconforto de gastar o dinheiro do mês em bens de consumo.</a:t>
              </a:r>
              <a:endParaRPr b="0" i="1" sz="1950">
                <a:solidFill>
                  <a:srgbClr val="F5F5F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432" name="Google Shape;432;p29"/>
          <p:cNvSpPr txBox="1"/>
          <p:nvPr/>
        </p:nvSpPr>
        <p:spPr>
          <a:xfrm>
            <a:off x="3454050" y="2941075"/>
            <a:ext cx="2261100" cy="1238400"/>
          </a:xfrm>
          <a:prstGeom prst="rect">
            <a:avLst/>
          </a:prstGeom>
          <a:noFill/>
          <a:ln cap="flat" cmpd="sng" w="38100">
            <a:solidFill>
              <a:srgbClr val="EE13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B47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  </a:t>
            </a:r>
            <a:r>
              <a:rPr b="0" lang="en" sz="900">
                <a:solidFill>
                  <a:srgbClr val="00B47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Contacto</a:t>
            </a:r>
            <a:endParaRPr b="0" sz="900">
              <a:solidFill>
                <a:srgbClr val="00B47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b="1" lang="en" sz="105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Robson Alves</a:t>
            </a:r>
            <a:endParaRPr b="1" sz="105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b="0" lang="en" sz="105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tocoengenharia@gmail.com</a:t>
            </a:r>
            <a:endParaRPr b="0" sz="105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750"/>
              </a:spcAft>
              <a:buNone/>
            </a:pPr>
            <a:r>
              <a:t/>
            </a:r>
            <a:endParaRPr b="0" i="1" sz="975">
              <a:solidFill>
                <a:srgbClr val="A3A3A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33" name="Google Shape;433;p29"/>
          <p:cNvGrpSpPr/>
          <p:nvPr/>
        </p:nvGrpSpPr>
        <p:grpSpPr>
          <a:xfrm>
            <a:off x="381000" y="4857750"/>
            <a:ext cx="8382000" cy="238125"/>
            <a:chOff x="381000" y="4857750"/>
            <a:chExt cx="8382000" cy="238125"/>
          </a:xfrm>
        </p:grpSpPr>
        <p:cxnSp>
          <p:nvCxnSpPr>
            <p:cNvPr id="434" name="Google Shape;434;p29"/>
            <p:cNvCxnSpPr/>
            <p:nvPr/>
          </p:nvCxnSpPr>
          <p:spPr>
            <a:xfrm>
              <a:off x="381000" y="48577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5" name="Google Shape;435;p29"/>
            <p:cNvSpPr txBox="1"/>
            <p:nvPr/>
          </p:nvSpPr>
          <p:spPr>
            <a:xfrm>
              <a:off x="381000" y="490537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RubikMe Pitch Deck</a:t>
              </a:r>
              <a:endParaRPr/>
            </a:p>
          </p:txBody>
        </p:sp>
        <p:sp>
          <p:nvSpPr>
            <p:cNvPr id="436" name="Google Shape;436;p29"/>
            <p:cNvSpPr txBox="1"/>
            <p:nvPr/>
          </p:nvSpPr>
          <p:spPr>
            <a:xfrm>
              <a:off x="6858000" y="490537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2026-06-17</a:t>
              </a:r>
              <a:endParaRPr/>
            </a:p>
          </p:txBody>
        </p:sp>
      </p:grpSp>
      <p:pic>
        <p:nvPicPr>
          <p:cNvPr id="437" name="Google Shape;43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4479" y="4524451"/>
            <a:ext cx="445800" cy="4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